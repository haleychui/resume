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06670"/>
          </a:solidFill>
          <a:ln w="12700">
            <a:solidFill>
              <a:srgbClr val="00667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315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陳語淇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0C4CC"/>
                </a:solidFill>
              </a:rPr>
              <a:t>Yu-Chi Chen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24231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7A87"/>
                </a:solidFill>
              </a:rPr>
              <a:t>AI Agent Systems Engineer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2920" y="2880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製程 × MES × LLM 跨域整合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3383280"/>
            <a:ext cx="1508760" cy="292608"/>
          </a:xfrm>
          <a:prstGeom prst="roundRect">
            <a:avLst>
              <a:gd name="adj" fmla="val 18750"/>
            </a:avLst>
          </a:prstGeom>
          <a:solidFill>
            <a:srgbClr val="0D4A5A"/>
          </a:solidFill>
          <a:ln w="6350">
            <a:solidFill>
              <a:srgbClr val="00A5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38328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DBDB"/>
                </a:solidFill>
              </a:rPr>
              <a:t>MCP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148840" y="3383280"/>
            <a:ext cx="1508760" cy="292608"/>
          </a:xfrm>
          <a:prstGeom prst="roundRect">
            <a:avLst>
              <a:gd name="adj" fmla="val 18750"/>
            </a:avLst>
          </a:prstGeom>
          <a:solidFill>
            <a:srgbClr val="0D4A5A"/>
          </a:solidFill>
          <a:ln w="6350">
            <a:solidFill>
              <a:srgbClr val="00A5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48840" y="338328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DBDB"/>
                </a:solidFill>
              </a:rPr>
              <a:t>RAG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794760" y="3383280"/>
            <a:ext cx="1508760" cy="292608"/>
          </a:xfrm>
          <a:prstGeom prst="roundRect">
            <a:avLst>
              <a:gd name="adj" fmla="val 18750"/>
            </a:avLst>
          </a:prstGeom>
          <a:solidFill>
            <a:srgbClr val="0D4A5A"/>
          </a:solidFill>
          <a:ln w="6350">
            <a:solidFill>
              <a:srgbClr val="00A5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94760" y="338328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DBDB"/>
                </a:solidFill>
              </a:rPr>
              <a:t>LangChain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02920" y="3767328"/>
            <a:ext cx="1508760" cy="292608"/>
          </a:xfrm>
          <a:prstGeom prst="roundRect">
            <a:avLst>
              <a:gd name="adj" fmla="val 18750"/>
            </a:avLst>
          </a:prstGeom>
          <a:solidFill>
            <a:srgbClr val="0D4A5A"/>
          </a:solidFill>
          <a:ln w="6350">
            <a:solidFill>
              <a:srgbClr val="00A5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76732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DBDB"/>
                </a:solidFill>
              </a:rPr>
              <a:t>LangGraph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148840" y="3767328"/>
            <a:ext cx="1508760" cy="292608"/>
          </a:xfrm>
          <a:prstGeom prst="roundRect">
            <a:avLst>
              <a:gd name="adj" fmla="val 18750"/>
            </a:avLst>
          </a:prstGeom>
          <a:solidFill>
            <a:srgbClr val="0D4A5A"/>
          </a:solidFill>
          <a:ln w="6350">
            <a:solidFill>
              <a:srgbClr val="00A5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48840" y="376732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DBDB"/>
                </a:solidFill>
              </a:rPr>
              <a:t>Multi-Agent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794760" y="3767328"/>
            <a:ext cx="1508760" cy="292608"/>
          </a:xfrm>
          <a:prstGeom prst="roundRect">
            <a:avLst>
              <a:gd name="adj" fmla="val 18750"/>
            </a:avLst>
          </a:prstGeom>
          <a:solidFill>
            <a:srgbClr val="0D4A5A"/>
          </a:solidFill>
          <a:ln w="6350">
            <a:solidFill>
              <a:srgbClr val="00A5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94760" y="376732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DBDB"/>
                </a:solidFill>
              </a:rPr>
              <a:t>Inference Cost Opt.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492240" y="1280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✉ 13@gmail.com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92240" y="1600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📱 0986-988-777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92240" y="1920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🎓 陽明交通大學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92240" y="2194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　　資科碩專班（在學）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4343400"/>
            <a:ext cx="1280160" cy="594360"/>
          </a:xfrm>
          <a:prstGeom prst="rect">
            <a:avLst/>
          </a:prstGeom>
          <a:solidFill>
            <a:srgbClr val="0D1F30"/>
          </a:solidFill>
          <a:ln w="6350">
            <a:solidFill>
              <a:srgbClr val="007A8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3616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A87"/>
                </a:solidFill>
              </a:rPr>
              <a:t>8年+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46360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0C4CC"/>
                </a:solidFill>
              </a:rPr>
              <a:t>半導體實戰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057400" y="4343400"/>
            <a:ext cx="1280160" cy="594360"/>
          </a:xfrm>
          <a:prstGeom prst="rect">
            <a:avLst/>
          </a:prstGeom>
          <a:solidFill>
            <a:srgbClr val="0D1F30"/>
          </a:solidFill>
          <a:ln w="6350">
            <a:solidFill>
              <a:srgbClr val="007A8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57400" y="43616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A87"/>
                </a:solidFill>
              </a:rPr>
              <a:t>7年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057400" y="46360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0C4CC"/>
                </a:solidFill>
              </a:rPr>
              <a:t>製程工程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566160" y="4343400"/>
            <a:ext cx="1280160" cy="594360"/>
          </a:xfrm>
          <a:prstGeom prst="rect">
            <a:avLst/>
          </a:prstGeom>
          <a:solidFill>
            <a:srgbClr val="0D1F30"/>
          </a:solidFill>
          <a:ln w="6350">
            <a:solidFill>
              <a:srgbClr val="007A8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66160" y="43616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A87"/>
                </a:solidFill>
              </a:rPr>
              <a:t>近2年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566160" y="46360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0C4CC"/>
                </a:solidFill>
              </a:rPr>
              <a:t>MES IT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074920" y="4343400"/>
            <a:ext cx="1280160" cy="594360"/>
          </a:xfrm>
          <a:prstGeom prst="rect">
            <a:avLst/>
          </a:prstGeom>
          <a:solidFill>
            <a:srgbClr val="0D1F30"/>
          </a:solidFill>
          <a:ln w="6350">
            <a:solidFill>
              <a:srgbClr val="007A8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74920" y="43616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A87"/>
                </a:solidFill>
              </a:rPr>
              <a:t>NT$295萬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074920" y="46360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0C4CC"/>
                </a:solidFill>
              </a:rPr>
              <a:t>AI年度效益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82B45"/>
          </a:solidFill>
          <a:ln w="12700">
            <a:solidFill>
              <a:srgbClr val="182B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個人定位 &amp; 核心技術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C4CC"/>
                </a:solidFill>
              </a:rPr>
              <a:t>8年實戰背景 × AI Agent 系統工程師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778240" y="0"/>
            <a:ext cx="365760" cy="68580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22960"/>
            <a:ext cx="8595360" cy="841248"/>
          </a:xfrm>
          <a:prstGeom prst="rect">
            <a:avLst/>
          </a:prstGeom>
          <a:solidFill>
            <a:srgbClr val="EAF5F7"/>
          </a:solidFill>
          <a:ln w="6350">
            <a:solidFill>
              <a:srgbClr val="B0D8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22960"/>
            <a:ext cx="54864" cy="841248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5039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82B45"/>
                </a:solidFill>
              </a:rPr>
              <a:t>核心優勢：</a:t>
            </a:r>
            <a:pPr indent="0" marL="0">
              <a:buNone/>
            </a:pPr>
            <a:r>
              <a:rPr lang="en-US" sz="950" dirty="0">
                <a:solidFill>
                  <a:srgbClr val="3D4E60"/>
                </a:solidFill>
              </a:rPr>
              <a:t>8年半導體實戰（製程 7年 + MES IT 近2年）× 陽明交大資科碩專班。以 LangChain / LangGraph 自主開發 Multi-Agent 工作流與 RAG 系統，</a:t>
            </a:r>
            <a:pPr indent="0" marL="0">
              <a:buNone/>
            </a:pPr>
            <a:r>
              <a:rPr lang="en-US" sz="950" dirty="0">
                <a:solidFill>
                  <a:srgbClr val="3D4E60"/>
                </a:solidFill>
              </a:rPr>
              <a:t>實作 MCP Tool Server，測試 Prefix Cache 優化策略與 Tool Error Fallback 機制，理解 Agent 系統設計邊界與常見失效模式。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810512"/>
            <a:ext cx="27432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BEE"/>
            </a:solidFill>
            <a:prstDash val="solid"/>
          </a:ln>
          <a:effectLst>
            <a:outerShdw sx="100000" sy="100000" kx="0" ky="0" algn="bl" rotWithShape="0" blurRad="76200" dist="25400" dir="8100000">
              <a:srgbClr val="182B45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810512"/>
            <a:ext cx="54864" cy="10515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88366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2B45"/>
                </a:solidFill>
              </a:rPr>
              <a:t>🤖  AI Agent 架構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176272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3D4E60"/>
                </a:solidFill>
              </a:rPr>
              <a:t>LangChain LCEL / LangGraph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3D4E60"/>
                </a:solidFill>
              </a:rPr>
              <a:t>ReAct / CoT Multi-step Reasoning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3D4E60"/>
                </a:solidFill>
              </a:rPr>
              <a:t>Orchestrator + Subagent 拆分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3D4E60"/>
                </a:solidFill>
              </a:rPr>
              <a:t>Tool / Tool Call / Tool Result Flow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127248" y="1810512"/>
            <a:ext cx="27432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BEE"/>
            </a:solidFill>
            <a:prstDash val="solid"/>
          </a:ln>
          <a:effectLst>
            <a:outerShdw sx="100000" sy="100000" kx="0" ky="0" algn="bl" rotWithShape="0" blurRad="76200" dist="25400" dir="8100000">
              <a:srgbClr val="182B45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27248" y="1810512"/>
            <a:ext cx="54864" cy="10515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64408" y="188366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2B45"/>
                </a:solidFill>
              </a:rPr>
              <a:t>🔌  MCP 整合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64408" y="2176272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3D4E60"/>
                </a:solidFill>
              </a:rPr>
              <a:t>Model Context Protocol 設計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3D4E60"/>
                </a:solidFill>
              </a:rPr>
              <a:t>Tool Server 標準化介面實作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3D4E60"/>
                </a:solidFill>
              </a:rPr>
              <a:t>DB / API / 內部系統接入 Agent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3D4E60"/>
                </a:solidFill>
              </a:rPr>
              <a:t>熱插拔工具擴充架構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980176" y="1810512"/>
            <a:ext cx="27432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BEE"/>
            </a:solidFill>
            <a:prstDash val="solid"/>
          </a:ln>
          <a:effectLst>
            <a:outerShdw sx="100000" sy="100000" kx="0" ky="0" algn="bl" rotWithShape="0" blurRad="76200" dist="25400" dir="8100000">
              <a:srgbClr val="182B45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80176" y="1810512"/>
            <a:ext cx="54864" cy="10515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17336" y="188366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2B45"/>
                </a:solidFill>
              </a:rPr>
              <a:t>📚  RAG &amp; Memory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17336" y="2176272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3D4E60"/>
                </a:solidFill>
              </a:rPr>
              <a:t>Embedding → Vector Store → Retrieval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3D4E60"/>
                </a:solidFill>
              </a:rPr>
              <a:t>ChromaDB / FAISS 向量搜尋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3D4E60"/>
                </a:solidFill>
              </a:rPr>
              <a:t>Prefix Cache 命中率優化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3D4E60"/>
                </a:solidFill>
              </a:rPr>
              <a:t>Stateful 跨 Session Memory 持久化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2971800"/>
            <a:ext cx="27432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BEE"/>
            </a:solidFill>
            <a:prstDash val="solid"/>
          </a:ln>
          <a:effectLst>
            <a:outerShdw sx="100000" sy="100000" kx="0" ky="0" algn="bl" rotWithShape="0" blurRad="76200" dist="25400" dir="8100000">
              <a:srgbClr val="182B45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971800"/>
            <a:ext cx="54864" cy="10515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04495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2B45"/>
                </a:solidFill>
              </a:rPr>
              <a:t>⚙️  後端 / 系統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333756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3D4E60"/>
                </a:solidFill>
              </a:rPr>
              <a:t>C# / ASP.NET Core / Python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3D4E60"/>
                </a:solidFill>
              </a:rPr>
              <a:t>RESTful API 設計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3D4E60"/>
                </a:solidFill>
              </a:rPr>
              <a:t>Oracle / IBM Informix / SQL 優化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3D4E60"/>
                </a:solidFill>
              </a:rPr>
              <a:t>ETL 流程 &amp; 即時資料處理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127248" y="2971800"/>
            <a:ext cx="27432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BEE"/>
            </a:solidFill>
            <a:prstDash val="solid"/>
          </a:ln>
          <a:effectLst>
            <a:outerShdw sx="100000" sy="100000" kx="0" ky="0" algn="bl" rotWithShape="0" blurRad="76200" dist="25400" dir="8100000">
              <a:srgbClr val="182B45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27248" y="2971800"/>
            <a:ext cx="54864" cy="10515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64408" y="304495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2B45"/>
                </a:solidFill>
              </a:rPr>
              <a:t>📉  效能優化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64408" y="333756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3D4E60"/>
                </a:solidFill>
              </a:rPr>
              <a:t>Latency / Token Usage 監控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3D4E60"/>
                </a:solidFill>
              </a:rPr>
              <a:t>Output Token 費率意識（≈5× Input）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3D4E60"/>
                </a:solidFill>
              </a:rPr>
              <a:t>Compaction 時機判斷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3D4E60"/>
                </a:solidFill>
              </a:rPr>
              <a:t>Batching 減少 Round-trip 次數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980176" y="2971800"/>
            <a:ext cx="27432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BEE"/>
            </a:solidFill>
            <a:prstDash val="solid"/>
          </a:ln>
          <a:effectLst>
            <a:outerShdw sx="100000" sy="100000" kx="0" ky="0" algn="bl" rotWithShape="0" blurRad="76200" dist="25400" dir="8100000">
              <a:srgbClr val="182B45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980176" y="2971800"/>
            <a:ext cx="54864" cy="10515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17336" y="304495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2B45"/>
                </a:solidFill>
              </a:rPr>
              <a:t>🏭  領域知識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17336" y="333756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3D4E60"/>
                </a:solidFill>
              </a:rPr>
              <a:t>半導體製程 &amp; FMEA 風險分析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3D4E60"/>
                </a:solidFill>
              </a:rPr>
              <a:t>IATF 16949 / ISO 26262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3D4E60"/>
                </a:solidFill>
              </a:rPr>
              <a:t>企業 AI 落地完整流程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3D4E60"/>
                </a:solidFill>
              </a:rPr>
              <a:t>Apple / Intel / BOSCH 稽核經驗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82B45"/>
          </a:solidFill>
          <a:ln w="12700">
            <a:solidFill>
              <a:srgbClr val="182B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MCP &amp; RAG 架構設計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C4CC"/>
                </a:solidFill>
              </a:rPr>
              <a:t>符合 JD 核心需求：MCP Tool Server + RAG Context 組裝策略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778240" y="0"/>
            <a:ext cx="365760" cy="68580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77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A87"/>
                </a:solidFill>
              </a:rPr>
              <a:t>MCP Tool Server 設計思路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115568"/>
            <a:ext cx="1874520" cy="594360"/>
          </a:xfrm>
          <a:prstGeom prst="rect">
            <a:avLst/>
          </a:prstGeom>
          <a:solidFill>
            <a:srgbClr val="182B45"/>
          </a:solidFill>
          <a:ln w="12700">
            <a:solidFill>
              <a:srgbClr val="182B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1556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Agent (LLM)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4320" y="138988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Harness 層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148840" y="1261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A87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423160" y="1115568"/>
            <a:ext cx="1874520" cy="5943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3160" y="111556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Tool Call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423160" y="138988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標準化請求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297680" y="1261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A87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0" y="1115568"/>
            <a:ext cx="1874520" cy="594360"/>
          </a:xfrm>
          <a:prstGeom prst="rect">
            <a:avLst/>
          </a:prstGeom>
          <a:solidFill>
            <a:srgbClr val="02A58F"/>
          </a:solidFill>
          <a:ln w="12700">
            <a:solidFill>
              <a:srgbClr val="02A5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111556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MCP Server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0" y="138988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Tool Router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446520" y="1261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A87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720840" y="1115568"/>
            <a:ext cx="1874520" cy="594360"/>
          </a:xfrm>
          <a:prstGeom prst="rect">
            <a:avLst/>
          </a:prstGeom>
          <a:solidFill>
            <a:srgbClr val="3D4E60"/>
          </a:solidFill>
          <a:ln w="12700">
            <a:solidFill>
              <a:srgbClr val="3D4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20840" y="111556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DB / API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720840" y="138988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Tool Result 回傳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92608" y="1847088"/>
            <a:ext cx="109728" cy="109728"/>
          </a:xfrm>
          <a:prstGeom prst="ellipse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1828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E60"/>
                </a:solidFill>
              </a:rPr>
              <a:t>將 Oracle DB、Informix 即時數據、設備 API 各自封裝為獨立 MCP Tool Server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92608" y="2139696"/>
            <a:ext cx="109728" cy="109728"/>
          </a:xfrm>
          <a:prstGeom prst="ellipse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21214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E60"/>
                </a:solidFill>
              </a:rPr>
              <a:t>Agent 透過標準介面取得 Tool Result，完全解耦資料來源與推論邏輯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92608" y="2432304"/>
            <a:ext cx="109728" cy="109728"/>
          </a:xfrm>
          <a:prstGeom prst="ellipse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24140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E60"/>
                </a:solidFill>
              </a:rPr>
              <a:t>Tool Server 支援熱插拔：新增資料來源無需修改 Agent Harness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92608" y="2724912"/>
            <a:ext cx="109728" cy="109728"/>
          </a:xfrm>
          <a:prstGeom prst="ellipse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" y="2706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E60"/>
                </a:solidFill>
              </a:rPr>
              <a:t>以 Python 實作 MCP Tool Server：SQLite DB + 模擬設備 API 標準化接入，驗證 Agent 工具解耦架構；重點設計 Tool 錯誤回傳格式（成功 / 失敗 / 部分失敗）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74320" y="3063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A87"/>
                </a:solidFill>
              </a:rPr>
              <a:t>RAG Pipeline &amp; Cache 命中率優化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3429000"/>
            <a:ext cx="1298448" cy="685800"/>
          </a:xfrm>
          <a:prstGeom prst="rect">
            <a:avLst/>
          </a:prstGeom>
          <a:solidFill>
            <a:srgbClr val="182B45"/>
          </a:solidFill>
          <a:ln w="3810">
            <a:solidFill>
              <a:srgbClr val="007A8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344728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① 資料準備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74320" y="3685032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PDF / DB / SOP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切片 &amp; 清洗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572768" y="3611880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→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737360" y="3429000"/>
            <a:ext cx="1298448" cy="685800"/>
          </a:xfrm>
          <a:prstGeom prst="rect">
            <a:avLst/>
          </a:prstGeom>
          <a:solidFill>
            <a:srgbClr val="182B45"/>
          </a:solidFill>
          <a:ln w="3810">
            <a:solidFill>
              <a:srgbClr val="007A8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737360" y="344728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② Embedding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737360" y="3685032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text-embedding-3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向量化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035808" y="3611880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→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0" y="3429000"/>
            <a:ext cx="1298448" cy="685800"/>
          </a:xfrm>
          <a:prstGeom prst="rect">
            <a:avLst/>
          </a:prstGeom>
          <a:solidFill>
            <a:srgbClr val="182B45"/>
          </a:solidFill>
          <a:ln w="3810">
            <a:solidFill>
              <a:srgbClr val="007A8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0" y="344728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③ Vector Store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200400" y="3685032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ChromaDB / FAISS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相似度搜尋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498848" y="3611880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→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663440" y="3429000"/>
            <a:ext cx="1298448" cy="685800"/>
          </a:xfrm>
          <a:prstGeom prst="rect">
            <a:avLst/>
          </a:prstGeom>
          <a:solidFill>
            <a:srgbClr val="182B45"/>
          </a:solidFill>
          <a:ln w="3810">
            <a:solidFill>
              <a:srgbClr val="007A8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63440" y="344728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④ Retrieval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663440" y="3685032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Top-K Chunks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動態撈取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5961888" y="3611880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→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126480" y="3429000"/>
            <a:ext cx="1298448" cy="685800"/>
          </a:xfrm>
          <a:prstGeom prst="rect">
            <a:avLst/>
          </a:prstGeom>
          <a:solidFill>
            <a:srgbClr val="007A87"/>
          </a:solidFill>
          <a:ln w="3810">
            <a:solidFill>
              <a:srgbClr val="007A8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26480" y="344728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⑤ Context 注入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126480" y="3685032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Prompt 組裝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Prefix Cache 利用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7424928" y="3611880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→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589520" y="3429000"/>
            <a:ext cx="1298448" cy="685800"/>
          </a:xfrm>
          <a:prstGeom prst="rect">
            <a:avLst/>
          </a:prstGeom>
          <a:solidFill>
            <a:srgbClr val="007A87"/>
          </a:solidFill>
          <a:ln w="3810">
            <a:solidFill>
              <a:srgbClr val="007A8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89520" y="344728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⑥ LLM 推論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589520" y="3685032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Inference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Token Cost 控管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274320" y="42062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2A58F"/>
                </a:solidFill>
              </a:rPr>
              <a:t>⚡ Cache 命中率最佳化：保持 System Prompt 穩定、Retrieval 結果前綴固定，避免每輪請求因 Context 重排導致 Prefix Cache 失效，降低 Input Token 費用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82B45"/>
          </a:solidFill>
          <a:ln w="12700">
            <a:solidFill>
              <a:srgbClr val="182B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LangChain / LangGraph &amp; Memory 系統設計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C4CC"/>
                </a:solidFill>
              </a:rPr>
              <a:t>Agent 建構模式 × Stateful Memory × Inference Cost 優化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778240" y="0"/>
            <a:ext cx="365760" cy="68580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77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A87"/>
                </a:solidFill>
              </a:rPr>
              <a:t>LangGraph State Machine（MES 製程對應）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115568"/>
            <a:ext cx="1508760" cy="685800"/>
          </a:xfrm>
          <a:prstGeom prst="rect">
            <a:avLst/>
          </a:prstGeom>
          <a:solidFill>
            <a:srgbClr val="182B45"/>
          </a:solidFill>
          <a:ln w="3810">
            <a:solidFill>
              <a:srgbClr val="007A87"/>
            </a:solidFill>
            <a:prstDash val="solid"/>
          </a:ln>
          <a:effectLst>
            <a:outerShdw sx="100000" sy="100000" kx="0" ky="0" algn="bl" rotWithShape="0" blurRad="76200" dist="25400" dir="8100000">
              <a:srgbClr val="182B45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115568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Task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Decomposition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920240" y="1115568"/>
            <a:ext cx="1508760" cy="685800"/>
          </a:xfrm>
          <a:prstGeom prst="rect">
            <a:avLst/>
          </a:prstGeom>
          <a:solidFill>
            <a:srgbClr val="007A87"/>
          </a:solidFill>
          <a:ln w="3810">
            <a:solidFill>
              <a:srgbClr val="007A87"/>
            </a:solidFill>
            <a:prstDash val="solid"/>
          </a:ln>
          <a:effectLst>
            <a:outerShdw sx="100000" sy="100000" kx="0" ky="0" algn="bl" rotWithShape="0" blurRad="76200" dist="25400" dir="8100000">
              <a:srgbClr val="182B45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20240" y="1115568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Tool Call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(MCP Server)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566160" y="1115568"/>
            <a:ext cx="1508760" cy="685800"/>
          </a:xfrm>
          <a:prstGeom prst="rect">
            <a:avLst/>
          </a:prstGeom>
          <a:solidFill>
            <a:srgbClr val="007A87"/>
          </a:solidFill>
          <a:ln w="3810">
            <a:solidFill>
              <a:srgbClr val="007A87"/>
            </a:solidFill>
            <a:prstDash val="solid"/>
          </a:ln>
          <a:effectLst>
            <a:outerShdw sx="100000" sy="100000" kx="0" ky="0" algn="bl" rotWithShape="0" blurRad="76200" dist="25400" dir="8100000">
              <a:srgbClr val="182B45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66160" y="1115568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Tool Result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&amp; State Update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212080" y="1115568"/>
            <a:ext cx="1508760" cy="685800"/>
          </a:xfrm>
          <a:prstGeom prst="rect">
            <a:avLst/>
          </a:prstGeom>
          <a:solidFill>
            <a:srgbClr val="182B45"/>
          </a:solidFill>
          <a:ln w="3810">
            <a:solidFill>
              <a:srgbClr val="007A87"/>
            </a:solidFill>
            <a:prstDash val="solid"/>
          </a:ln>
          <a:effectLst>
            <a:outerShdw sx="100000" sy="100000" kx="0" ky="0" algn="bl" rotWithShape="0" blurRad="76200" dist="25400" dir="8100000">
              <a:srgbClr val="182B45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212080" y="1115568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Reasoning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&amp; Decision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566160" y="1993392"/>
            <a:ext cx="1508760" cy="685800"/>
          </a:xfrm>
          <a:prstGeom prst="rect">
            <a:avLst/>
          </a:prstGeom>
          <a:solidFill>
            <a:srgbClr val="B05020"/>
          </a:solidFill>
          <a:ln w="3810">
            <a:solidFill>
              <a:srgbClr val="007A87"/>
            </a:solidFill>
            <a:prstDash val="solid"/>
          </a:ln>
          <a:effectLst>
            <a:outerShdw sx="100000" sy="100000" kx="0" ky="0" algn="bl" rotWithShape="0" blurRad="76200" dist="25400" dir="8100000">
              <a:srgbClr val="182B45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566160" y="1993392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Error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Handler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212080" y="1993392"/>
            <a:ext cx="1508760" cy="685800"/>
          </a:xfrm>
          <a:prstGeom prst="rect">
            <a:avLst/>
          </a:prstGeom>
          <a:solidFill>
            <a:srgbClr val="025A60"/>
          </a:solidFill>
          <a:ln w="3810">
            <a:solidFill>
              <a:srgbClr val="007A87"/>
            </a:solidFill>
            <a:prstDash val="solid"/>
          </a:ln>
          <a:effectLst>
            <a:outerShdw sx="100000" sy="100000" kx="0" ky="0" algn="bl" rotWithShape="0" blurRad="76200" dist="25400" dir="8100000">
              <a:srgbClr val="182B45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212080" y="1993392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Memory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Persist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783080" y="1453896"/>
            <a:ext cx="137160" cy="0"/>
          </a:xfrm>
          <a:prstGeom prst="line">
            <a:avLst/>
          </a:prstGeom>
          <a:noFill/>
          <a:ln w="15240">
            <a:solidFill>
              <a:srgbClr val="007A8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29000" y="1453896"/>
            <a:ext cx="137160" cy="0"/>
          </a:xfrm>
          <a:prstGeom prst="line">
            <a:avLst/>
          </a:prstGeom>
          <a:noFill/>
          <a:ln w="15240">
            <a:solidFill>
              <a:srgbClr val="007A8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74920" y="1453896"/>
            <a:ext cx="137160" cy="0"/>
          </a:xfrm>
          <a:prstGeom prst="line">
            <a:avLst/>
          </a:prstGeom>
          <a:noFill/>
          <a:ln w="15240">
            <a:solidFill>
              <a:srgbClr val="007A8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20540" y="1801368"/>
            <a:ext cx="0" cy="192024"/>
          </a:xfrm>
          <a:prstGeom prst="line">
            <a:avLst/>
          </a:prstGeom>
          <a:noFill/>
          <a:ln w="15240">
            <a:solidFill>
              <a:srgbClr val="007A8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66460" y="1801368"/>
            <a:ext cx="0" cy="192024"/>
          </a:xfrm>
          <a:prstGeom prst="line">
            <a:avLst/>
          </a:prstGeom>
          <a:noFill/>
          <a:ln w="15240">
            <a:solidFill>
              <a:srgbClr val="007A8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37360" y="133502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→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83280" y="133502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→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0" y="133502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→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0" y="17830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9966"/>
                </a:solidFill>
              </a:rPr>
              <a:t>↓ fail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349240" y="178308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2A58F"/>
                </a:solidFill>
              </a:rPr>
              <a:t>↓ done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903720" y="777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A87"/>
                </a:solidFill>
              </a:rPr>
              <a:t>Memory 層策略比較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903720" y="1115568"/>
            <a:ext cx="694944" cy="457200"/>
          </a:xfrm>
          <a:prstGeom prst="rect">
            <a:avLst/>
          </a:prstGeom>
          <a:solidFill>
            <a:srgbClr val="182B45"/>
          </a:solidFill>
          <a:ln w="3810">
            <a:solidFill>
              <a:srgbClr val="CCDD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03720" y="1115568"/>
            <a:ext cx="694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類型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7616952" y="1115568"/>
            <a:ext cx="694944" cy="457200"/>
          </a:xfrm>
          <a:prstGeom prst="rect">
            <a:avLst/>
          </a:prstGeom>
          <a:solidFill>
            <a:srgbClr val="182B45"/>
          </a:solidFill>
          <a:ln w="3810">
            <a:solidFill>
              <a:srgbClr val="CCDD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16952" y="1115568"/>
            <a:ext cx="694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適用場景</a:t>
            </a:r>
            <a:endParaRPr lang="en-US" sz="720" dirty="0"/>
          </a:p>
        </p:txBody>
      </p:sp>
      <p:sp>
        <p:nvSpPr>
          <p:cNvPr id="34" name="Shape 32"/>
          <p:cNvSpPr/>
          <p:nvPr/>
        </p:nvSpPr>
        <p:spPr>
          <a:xfrm>
            <a:off x="8330184" y="1115568"/>
            <a:ext cx="694944" cy="457200"/>
          </a:xfrm>
          <a:prstGeom prst="rect">
            <a:avLst/>
          </a:prstGeom>
          <a:solidFill>
            <a:srgbClr val="182B45"/>
          </a:solidFill>
          <a:ln w="3810">
            <a:solidFill>
              <a:srgbClr val="CCDD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30184" y="1115568"/>
            <a:ext cx="694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Cache 命中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6903720" y="1591056"/>
            <a:ext cx="694944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CDD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03720" y="1591056"/>
            <a:ext cx="694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3D4E60"/>
                </a:solidFill>
              </a:rPr>
              <a:t>In-memory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3D4E60"/>
                </a:solidFill>
              </a:rPr>
              <a:t>Buffer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7616952" y="1591056"/>
            <a:ext cx="694944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CDD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16952" y="1591056"/>
            <a:ext cx="694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3D4E60"/>
                </a:solidFill>
              </a:rPr>
              <a:t>短期 Session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3D4E60"/>
                </a:solidFill>
              </a:rPr>
              <a:t>(Smart Zone 內)</a:t>
            </a:r>
            <a:endParaRPr lang="en-US" sz="720" dirty="0"/>
          </a:p>
        </p:txBody>
      </p:sp>
      <p:sp>
        <p:nvSpPr>
          <p:cNvPr id="40" name="Shape 38"/>
          <p:cNvSpPr/>
          <p:nvPr/>
        </p:nvSpPr>
        <p:spPr>
          <a:xfrm>
            <a:off x="8330184" y="1591056"/>
            <a:ext cx="694944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CDD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30184" y="1591056"/>
            <a:ext cx="694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3D4E60"/>
                </a:solidFill>
              </a:rPr>
              <a:t>✓ 高</a:t>
            </a:r>
            <a:endParaRPr lang="en-US" sz="720" dirty="0"/>
          </a:p>
        </p:txBody>
      </p:sp>
      <p:sp>
        <p:nvSpPr>
          <p:cNvPr id="42" name="Shape 40"/>
          <p:cNvSpPr/>
          <p:nvPr/>
        </p:nvSpPr>
        <p:spPr>
          <a:xfrm>
            <a:off x="6903720" y="2066544"/>
            <a:ext cx="694944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CDD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03720" y="2066544"/>
            <a:ext cx="694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3D4E60"/>
                </a:solidFill>
              </a:rPr>
              <a:t>Redis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3D4E60"/>
                </a:solidFill>
              </a:rPr>
              <a:t>Cache</a:t>
            </a:r>
            <a:endParaRPr lang="en-US" sz="720" dirty="0"/>
          </a:p>
        </p:txBody>
      </p:sp>
      <p:sp>
        <p:nvSpPr>
          <p:cNvPr id="44" name="Shape 42"/>
          <p:cNvSpPr/>
          <p:nvPr/>
        </p:nvSpPr>
        <p:spPr>
          <a:xfrm>
            <a:off x="7616952" y="2066544"/>
            <a:ext cx="694944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CDD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16952" y="2066544"/>
            <a:ext cx="694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3D4E60"/>
                </a:solidFill>
              </a:rPr>
              <a:t>跨 Session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3D4E60"/>
                </a:solidFill>
              </a:rPr>
              <a:t>低延遲 State</a:t>
            </a:r>
            <a:endParaRPr lang="en-US" sz="720" dirty="0"/>
          </a:p>
        </p:txBody>
      </p:sp>
      <p:sp>
        <p:nvSpPr>
          <p:cNvPr id="46" name="Shape 44"/>
          <p:cNvSpPr/>
          <p:nvPr/>
        </p:nvSpPr>
        <p:spPr>
          <a:xfrm>
            <a:off x="8330184" y="2066544"/>
            <a:ext cx="694944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CDD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330184" y="2066544"/>
            <a:ext cx="694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3D4E60"/>
                </a:solidFill>
              </a:rPr>
              <a:t>✓✓ 最高</a:t>
            </a:r>
            <a:endParaRPr lang="en-US" sz="720" dirty="0"/>
          </a:p>
        </p:txBody>
      </p:sp>
      <p:sp>
        <p:nvSpPr>
          <p:cNvPr id="48" name="Shape 46"/>
          <p:cNvSpPr/>
          <p:nvPr/>
        </p:nvSpPr>
        <p:spPr>
          <a:xfrm>
            <a:off x="6903720" y="2542032"/>
            <a:ext cx="694944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CDDE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03720" y="2542032"/>
            <a:ext cx="694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3D4E60"/>
                </a:solidFill>
              </a:rPr>
              <a:t>SQLite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3D4E60"/>
                </a:solidFill>
              </a:rPr>
              <a:t>持久化</a:t>
            </a:r>
            <a:endParaRPr lang="en-US" sz="720" dirty="0"/>
          </a:p>
        </p:txBody>
      </p:sp>
      <p:sp>
        <p:nvSpPr>
          <p:cNvPr id="50" name="Shape 48"/>
          <p:cNvSpPr/>
          <p:nvPr/>
        </p:nvSpPr>
        <p:spPr>
          <a:xfrm>
            <a:off x="7616952" y="2542032"/>
            <a:ext cx="694944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CDDE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16952" y="2542032"/>
            <a:ext cx="694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3D4E60"/>
                </a:solidFill>
              </a:rPr>
              <a:t>長期記憶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3D4E60"/>
                </a:solidFill>
              </a:rPr>
              <a:t>歷史紀錄</a:t>
            </a:r>
            <a:endParaRPr lang="en-US" sz="720" dirty="0"/>
          </a:p>
        </p:txBody>
      </p:sp>
      <p:sp>
        <p:nvSpPr>
          <p:cNvPr id="52" name="Shape 50"/>
          <p:cNvSpPr/>
          <p:nvPr/>
        </p:nvSpPr>
        <p:spPr>
          <a:xfrm>
            <a:off x="8330184" y="2542032"/>
            <a:ext cx="694944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CDD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330184" y="2542032"/>
            <a:ext cx="694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3D4E60"/>
                </a:solidFill>
              </a:rPr>
              <a:t>△ 需策略</a:t>
            </a:r>
            <a:endParaRPr lang="en-US" sz="720" dirty="0"/>
          </a:p>
        </p:txBody>
      </p:sp>
      <p:sp>
        <p:nvSpPr>
          <p:cNvPr id="54" name="Shape 52"/>
          <p:cNvSpPr/>
          <p:nvPr/>
        </p:nvSpPr>
        <p:spPr>
          <a:xfrm>
            <a:off x="6903720" y="3017520"/>
            <a:ext cx="694944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CDDE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903720" y="3017520"/>
            <a:ext cx="694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3D4E60"/>
                </a:solidFill>
              </a:rPr>
              <a:t>Vector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3D4E60"/>
                </a:solidFill>
              </a:rPr>
              <a:t>Memory</a:t>
            </a:r>
            <a:endParaRPr lang="en-US" sz="720" dirty="0"/>
          </a:p>
        </p:txBody>
      </p:sp>
      <p:sp>
        <p:nvSpPr>
          <p:cNvPr id="56" name="Shape 54"/>
          <p:cNvSpPr/>
          <p:nvPr/>
        </p:nvSpPr>
        <p:spPr>
          <a:xfrm>
            <a:off x="7616952" y="3017520"/>
            <a:ext cx="694944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CDDE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616952" y="3017520"/>
            <a:ext cx="694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3D4E60"/>
                </a:solidFill>
              </a:rPr>
              <a:t>語義搜尋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3D4E60"/>
                </a:solidFill>
              </a:rPr>
              <a:t>RAG 相關</a:t>
            </a:r>
            <a:endParaRPr lang="en-US" sz="720" dirty="0"/>
          </a:p>
        </p:txBody>
      </p:sp>
      <p:sp>
        <p:nvSpPr>
          <p:cNvPr id="58" name="Shape 56"/>
          <p:cNvSpPr/>
          <p:nvPr/>
        </p:nvSpPr>
        <p:spPr>
          <a:xfrm>
            <a:off x="8330184" y="3017520"/>
            <a:ext cx="694944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CDDE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330184" y="3017520"/>
            <a:ext cx="694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3D4E60"/>
                </a:solidFill>
              </a:rPr>
              <a:t>✓ 依 Embed</a:t>
            </a:r>
            <a:endParaRPr lang="en-US" sz="720" dirty="0"/>
          </a:p>
        </p:txBody>
      </p:sp>
      <p:sp>
        <p:nvSpPr>
          <p:cNvPr id="60" name="Text 58"/>
          <p:cNvSpPr/>
          <p:nvPr/>
        </p:nvSpPr>
        <p:spPr>
          <a:xfrm>
            <a:off x="274320" y="2852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LangChain LCEL RAG Chain（自主開發實作）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274320" y="3154680"/>
            <a:ext cx="8595360" cy="1554480"/>
          </a:xfrm>
          <a:prstGeom prst="rect">
            <a:avLst/>
          </a:prstGeom>
          <a:solidFill>
            <a:srgbClr val="0D1F30"/>
          </a:solidFill>
          <a:ln w="3810">
            <a:solidFill>
              <a:srgbClr val="007A8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7200" y="3218688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7FDB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RAG Pipeline with Prefix Cache 優化</a:t>
            </a:r>
            <a:endParaRPr lang="en-US" sz="780" dirty="0"/>
          </a:p>
        </p:txBody>
      </p:sp>
      <p:sp>
        <p:nvSpPr>
          <p:cNvPr id="63" name="Text 61"/>
          <p:cNvSpPr/>
          <p:nvPr/>
        </p:nvSpPr>
        <p:spPr>
          <a:xfrm>
            <a:off x="457200" y="339242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retriever = vectorstore.as_retriever(search_kwargs={'k': 4})</a:t>
            </a:r>
            <a:endParaRPr lang="en-US" sz="780" dirty="0"/>
          </a:p>
        </p:txBody>
      </p:sp>
      <p:sp>
        <p:nvSpPr>
          <p:cNvPr id="64" name="Text 62"/>
          <p:cNvSpPr/>
          <p:nvPr/>
        </p:nvSpPr>
        <p:spPr>
          <a:xfrm>
            <a:off x="457200" y="3566160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= ChatPromptTemplate.from_messages([</a:t>
            </a:r>
            <a:endParaRPr lang="en-US" sz="780" dirty="0"/>
          </a:p>
        </p:txBody>
      </p:sp>
      <p:sp>
        <p:nvSpPr>
          <p:cNvPr id="65" name="Text 63"/>
          <p:cNvSpPr/>
          <p:nvPr/>
        </p:nvSpPr>
        <p:spPr>
          <a:xfrm>
            <a:off x="457200" y="3739896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("system", STABLE_SYSTEM_PROMPT),   # 保持穩定 → Prefix Cache 命中率 ↑</a:t>
            </a:r>
            <a:endParaRPr lang="en-US" sz="780" dirty="0"/>
          </a:p>
        </p:txBody>
      </p:sp>
      <p:sp>
        <p:nvSpPr>
          <p:cNvPr id="66" name="Text 64"/>
          <p:cNvSpPr/>
          <p:nvPr/>
        </p:nvSpPr>
        <p:spPr>
          <a:xfrm>
            <a:off x="457200" y="3913632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("human",  "{question}\n\nContext:\n{context}"),</a:t>
            </a:r>
            <a:endParaRPr lang="en-US" sz="780" dirty="0"/>
          </a:p>
        </p:txBody>
      </p:sp>
      <p:sp>
        <p:nvSpPr>
          <p:cNvPr id="67" name="Text 65"/>
          <p:cNvSpPr/>
          <p:nvPr/>
        </p:nvSpPr>
        <p:spPr>
          <a:xfrm>
            <a:off x="457200" y="4087368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780" dirty="0"/>
          </a:p>
        </p:txBody>
      </p:sp>
      <p:sp>
        <p:nvSpPr>
          <p:cNvPr id="68" name="Text 66"/>
          <p:cNvSpPr/>
          <p:nvPr/>
        </p:nvSpPr>
        <p:spPr>
          <a:xfrm>
            <a:off x="457200" y="426110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chain = (retriever | format_docs) | prompt | llm | StrOutputParser()</a:t>
            </a:r>
            <a:endParaRPr lang="en-US" sz="780" dirty="0"/>
          </a:p>
        </p:txBody>
      </p:sp>
      <p:sp>
        <p:nvSpPr>
          <p:cNvPr id="69" name="Text 67"/>
          <p:cNvSpPr/>
          <p:nvPr/>
        </p:nvSpPr>
        <p:spPr>
          <a:xfrm>
            <a:off x="457200" y="4434840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7FDB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Memory 持久化：每次 invoke 後將 State 寫入 Redis，下次 Session 重載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82B45"/>
          </a:solidFill>
          <a:ln w="12700">
            <a:solidFill>
              <a:srgbClr val="182B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工作經歷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C4CC"/>
                </a:solidFill>
              </a:rPr>
              <a:t>8年半導體實戰 → AI Agent 架構設計能力直接對應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778240" y="0"/>
            <a:ext cx="365760" cy="68580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04672"/>
            <a:ext cx="8595360" cy="347472"/>
          </a:xfrm>
          <a:prstGeom prst="rect">
            <a:avLst/>
          </a:prstGeom>
          <a:solidFill>
            <a:srgbClr val="182B45"/>
          </a:solidFill>
          <a:ln w="12700">
            <a:solidFill>
              <a:srgbClr val="182B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0467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MES IT 工程師　｜　南茂科技股份有限公司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0" y="80467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C4CC"/>
                </a:solidFill>
              </a:rPr>
              <a:t>2024/04 – 至今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225296"/>
            <a:ext cx="4160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BEE"/>
            </a:solidFill>
            <a:prstDash val="solid"/>
          </a:ln>
          <a:effectLst>
            <a:outerShdw sx="100000" sy="100000" kx="0" ky="0" algn="bl" rotWithShape="0" blurRad="76200" dist="25400" dir="8100000">
              <a:srgbClr val="182B45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225296"/>
            <a:ext cx="54864" cy="91440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2984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2B45"/>
                </a:solidFill>
              </a:rPr>
              <a:t>工具封裝架構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159105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3D4E60"/>
                </a:solidFill>
              </a:rPr>
              <a:t>Oracle/Informix DB 與設備 API 各自封裝為標準化工具模組；推論邏輯透過 Tool Interface 取得資料，完全解耦資料來源——設計原則與 MCP Tool Server 一致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17720" y="1225296"/>
            <a:ext cx="4160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BEE"/>
            </a:solidFill>
            <a:prstDash val="solid"/>
          </a:ln>
          <a:effectLst>
            <a:outerShdw sx="100000" sy="100000" kx="0" ky="0" algn="bl" rotWithShape="0" blurRad="76200" dist="25400" dir="8100000">
              <a:srgbClr val="182B45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1225296"/>
            <a:ext cx="54864" cy="91440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2984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2B45"/>
                </a:solidFill>
              </a:rPr>
              <a:t>動態 Context 組裝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159105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3D4E60"/>
                </a:solidFill>
              </a:rPr>
              <a:t>ETL 流程依任務動態撈取相關 Chunk 注入業務邏輯；採 Progressive Disclosure 避免全量資料塞入請求，降低 Input Token 消耗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2212848"/>
            <a:ext cx="4160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BEE"/>
            </a:solidFill>
            <a:prstDash val="solid"/>
          </a:ln>
          <a:effectLst>
            <a:outerShdw sx="100000" sy="100000" kx="0" ky="0" algn="bl" rotWithShape="0" blurRad="76200" dist="25400" dir="8100000">
              <a:srgbClr val="182B45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212848"/>
            <a:ext cx="54864" cy="91440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286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2B45"/>
                </a:solidFill>
              </a:rPr>
              <a:t>Stateful Memory (LangGraph)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257860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3D4E60"/>
                </a:solidFill>
              </a:rPr>
              <a:t>跨製程步驟 State 持久化 + 明確 Fallback 路徑（retry → 人工介入 → Handoff Artifact 記錄），確保流程不在異常情境下無效循環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17720" y="2212848"/>
            <a:ext cx="4160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BEE"/>
            </a:solidFill>
            <a:prstDash val="solid"/>
          </a:ln>
          <a:effectLst>
            <a:outerShdw sx="100000" sy="100000" kx="0" ky="0" algn="bl" rotWithShape="0" blurRad="76200" dist="25400" dir="8100000">
              <a:srgbClr val="182B45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17720" y="2212848"/>
            <a:ext cx="54864" cy="91440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2286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2B45"/>
                </a:solidFill>
              </a:rPr>
              <a:t>Inference 效能意識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0" y="257860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3D4E60"/>
                </a:solidFill>
              </a:rPr>
              <a:t>監控 Tool Calling 次數累積，設計批次查詢減少 Round-trip，降低 Latency 與 Inference Cost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3218688"/>
            <a:ext cx="8595360" cy="310896"/>
          </a:xfrm>
          <a:prstGeom prst="rect">
            <a:avLst/>
          </a:prstGeom>
          <a:solidFill>
            <a:srgbClr val="0D3045"/>
          </a:solidFill>
          <a:ln w="12700">
            <a:solidFill>
              <a:srgbClr val="182B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1868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製程工程師（晶圓測試）　｜　南茂科技股份有限公司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315200" y="321868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C4CC"/>
                </a:solidFill>
              </a:rPr>
              <a:t>2017/04 – 2024/03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3584448"/>
            <a:ext cx="4160520" cy="512064"/>
          </a:xfrm>
          <a:prstGeom prst="rect">
            <a:avLst/>
          </a:prstGeom>
          <a:solidFill>
            <a:srgbClr val="0D2A35"/>
          </a:solidFill>
          <a:ln w="5080">
            <a:solidFill>
              <a:srgbClr val="02A58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584448"/>
            <a:ext cx="54864" cy="512064"/>
          </a:xfrm>
          <a:prstGeom prst="rect">
            <a:avLst/>
          </a:prstGeom>
          <a:solidFill>
            <a:srgbClr val="02A58F"/>
          </a:solidFill>
          <a:ln w="12700">
            <a:solidFill>
              <a:srgbClr val="02A5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2336" y="3630168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🔬 AI 落地 &amp; Tool Calling Flow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02336" y="38130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A8D8EA"/>
                </a:solidFill>
              </a:rPr>
              <a:t>Probe Mark AI：影像擷取→CV Model→Tool Result→Human Review；Automated Check 對抗 Non-determinism；年效益 NT$295萬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4617720" y="3584448"/>
            <a:ext cx="4160520" cy="512064"/>
          </a:xfrm>
          <a:prstGeom prst="rect">
            <a:avLst/>
          </a:prstGeom>
          <a:solidFill>
            <a:srgbClr val="0D2A35"/>
          </a:solidFill>
          <a:ln w="5080">
            <a:solidFill>
              <a:srgbClr val="02A58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17720" y="3584448"/>
            <a:ext cx="54864" cy="512064"/>
          </a:xfrm>
          <a:prstGeom prst="rect">
            <a:avLst/>
          </a:prstGeom>
          <a:solidFill>
            <a:srgbClr val="02A58F"/>
          </a:solidFill>
          <a:ln w="12700">
            <a:solidFill>
              <a:srgbClr val="02A58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45736" y="3630168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🔗 LangChain ReAct Pattern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45736" y="38130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A8D8EA"/>
                </a:solidFill>
              </a:rPr>
              <a:t>50+場 FMEA：問題→假設→實驗→觀察→下輪推理；與 ReAct（Reasoning→Action→Observation）高度對應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274320" y="4160520"/>
            <a:ext cx="4160520" cy="512064"/>
          </a:xfrm>
          <a:prstGeom prst="rect">
            <a:avLst/>
          </a:prstGeom>
          <a:solidFill>
            <a:srgbClr val="0D2A35"/>
          </a:solidFill>
          <a:ln w="5080">
            <a:solidFill>
              <a:srgbClr val="02A58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4160520"/>
            <a:ext cx="54864" cy="512064"/>
          </a:xfrm>
          <a:prstGeom prst="rect">
            <a:avLst/>
          </a:prstGeom>
          <a:solidFill>
            <a:srgbClr val="02A58F"/>
          </a:solidFill>
          <a:ln w="12700">
            <a:solidFill>
              <a:srgbClr val="02A58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2336" y="4206240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👥 Multi-Agent 現場實踐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02336" y="43891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A8D8EA"/>
                </a:solidFill>
              </a:rPr>
              <a:t>20+項跨部門優化：Orchestrator 分派任務給多 Subagent 平行執行後匯整 Tool Result</a:t>
            </a:r>
            <a:endParaRPr lang="en-US" sz="780" dirty="0"/>
          </a:p>
        </p:txBody>
      </p:sp>
      <p:sp>
        <p:nvSpPr>
          <p:cNvPr id="40" name="Shape 38"/>
          <p:cNvSpPr/>
          <p:nvPr/>
        </p:nvSpPr>
        <p:spPr>
          <a:xfrm>
            <a:off x="4617720" y="4160520"/>
            <a:ext cx="4160520" cy="512064"/>
          </a:xfrm>
          <a:prstGeom prst="rect">
            <a:avLst/>
          </a:prstGeom>
          <a:solidFill>
            <a:srgbClr val="0D2A35"/>
          </a:solidFill>
          <a:ln w="5080">
            <a:solidFill>
              <a:srgbClr val="02A58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17720" y="4160520"/>
            <a:ext cx="54864" cy="512064"/>
          </a:xfrm>
          <a:prstGeom prst="rect">
            <a:avLst/>
          </a:prstGeom>
          <a:solidFill>
            <a:srgbClr val="02A58F"/>
          </a:solidFill>
          <a:ln w="12700">
            <a:solidFill>
              <a:srgbClr val="02A58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45736" y="4206240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🏭 企業 AI 稽核標準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745736" y="43891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A8D8EA"/>
                </a:solidFill>
              </a:rPr>
              <a:t>Apple/Intel/BOSCH 10+次稽核；Hallucination 控管、推理可追溯、Automated Review 驗收要求</a:t>
            </a:r>
            <a:endParaRPr lang="en-US" sz="7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82B45"/>
          </a:solidFill>
          <a:ln w="12700">
            <a:solidFill>
              <a:srgbClr val="182B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專案亮點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C4CC"/>
                </a:solidFill>
              </a:rPr>
              <a:t>三個專案展示 AI Agent 系統設計的完整能力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778240" y="0"/>
            <a:ext cx="365760" cy="68580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04672"/>
            <a:ext cx="8595360" cy="1298448"/>
          </a:xfrm>
          <a:prstGeom prst="rect">
            <a:avLst/>
          </a:prstGeom>
          <a:solidFill>
            <a:srgbClr val="182B45"/>
          </a:solidFill>
          <a:ln w="6350">
            <a:solidFill>
              <a:srgbClr val="007A87"/>
            </a:solidFill>
            <a:prstDash val="solid"/>
          </a:ln>
          <a:effectLst>
            <a:outerShdw sx="100000" sy="100000" kx="0" ky="0" algn="bl" rotWithShape="0" blurRad="76200" dist="25400" dir="8100000">
              <a:srgbClr val="182B45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04672"/>
            <a:ext cx="64008" cy="1298448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686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🔬  Probe Mark AI 影像辨識系統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589520" y="868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0C4CC"/>
                </a:solidFill>
              </a:rPr>
              <a:t>2023 ｜ 南茂科技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1188720"/>
            <a:ext cx="8229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CADCFC"/>
                </a:solidFill>
              </a:rPr>
              <a:t>Tool Calling Flow：影像擷取 API（Tool Call）→ CV 推論（Inference）→ Tool Result → Human-in-the-loop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CADCFC"/>
                </a:solidFill>
              </a:rPr>
              <a:t>Automated Check：Non-determinism 輸出 → 低信心度觸發 Permission Request（人工複核）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CADCFC"/>
                </a:solidFill>
              </a:rPr>
              <a:t>核心洞見：AI 落地關鍵在 Harness 層 Tool 設計，而非只靠換模型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CADCFC"/>
                </a:solidFill>
              </a:rPr>
              <a:t>年節省人力成本 NT$295 萬元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320" y="2221992"/>
            <a:ext cx="8595360" cy="1298448"/>
          </a:xfrm>
          <a:prstGeom prst="rect">
            <a:avLst/>
          </a:prstGeom>
          <a:solidFill>
            <a:srgbClr val="005A65"/>
          </a:solidFill>
          <a:ln w="6350">
            <a:solidFill>
              <a:srgbClr val="02A58F"/>
            </a:solidFill>
            <a:prstDash val="solid"/>
          </a:ln>
          <a:effectLst>
            <a:outerShdw sx="100000" sy="100000" kx="0" ky="0" algn="bl" rotWithShape="0" blurRad="76200" dist="25400" dir="8100000">
              <a:srgbClr val="182B45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221992"/>
            <a:ext cx="64008" cy="1298448"/>
          </a:xfrm>
          <a:prstGeom prst="rect">
            <a:avLst/>
          </a:prstGeom>
          <a:solidFill>
            <a:srgbClr val="02A58F"/>
          </a:solidFill>
          <a:ln w="12700">
            <a:solidFill>
              <a:srgbClr val="02A5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2860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⚙️  MES 晶圓凸塊管控系統重構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589520" y="22860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0C4CC"/>
                </a:solidFill>
              </a:rPr>
              <a:t>2024 ｜ 南茂科技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" y="2606040"/>
            <a:ext cx="8229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CADCFC"/>
                </a:solidFill>
              </a:rPr>
              <a:t>MCP 架構：Oracle/Informix/設備 API → 各自封裝為獨立 Tool Server（熱插拔擴充）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CADCFC"/>
                </a:solidFill>
              </a:rPr>
              <a:t>動態 Context 組裝：依任務動態撈取相關 Chunk 注入業務邏輯，Progressive Disclosure 避免全量資料塞入請求，降低 Token 消耗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CADCFC"/>
                </a:solidFill>
              </a:rPr>
              <a:t>Stateful Memory：關鍵 State 跨 Session 持久化，精準重載入 Context Window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CADCFC"/>
                </a:solidFill>
              </a:rPr>
              <a:t>Error Handling：Fallback 路徑設計，避免 Agent 在混沌區無效循環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3639312"/>
            <a:ext cx="8595360" cy="1298448"/>
          </a:xfrm>
          <a:prstGeom prst="rect">
            <a:avLst/>
          </a:prstGeom>
          <a:solidFill>
            <a:srgbClr val="1B3040"/>
          </a:solidFill>
          <a:ln w="635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25400" dir="8100000">
              <a:srgbClr val="182B45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639312"/>
            <a:ext cx="64008" cy="12984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703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🧪  LangChain/LangGraph 自主開發專案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589520" y="37033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0C4CC"/>
                </a:solidFill>
              </a:rPr>
              <a:t>2024–2025 ｜ 自主研究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CADCFC"/>
                </a:solidFill>
              </a:rPr>
              <a:t>RAG Pipeline：SOP 文件（PDF）→ Embedding → ChromaDB → 固定大小切片 + metadata filter（解決半結構化表格的 Retrieval 精準度問題）→ LLM 推論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CADCFC"/>
                </a:solidFill>
              </a:rPr>
              <a:t>Prefix Cache 優化：發現 System Prompt 混入動態內容（時間戳記）時命中率歸零；調整為靜態 System Prompt + 動態 User Turn 架構，Input Token 消耗明顯降低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CADCFC"/>
                </a:solidFill>
              </a:rPr>
              <a:t>LangGraph Multi-Agent：Orchestrator 拆解任務→三個 Subagent 獨立執行→發現 Context 膨脹問題→改為結構化摘要格式回傳，Token Usage 有效控制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CADCFC"/>
                </a:solidFill>
              </a:rPr>
              <a:t>MCP Tool Server：Python 實作 SQLite DB + 模擬設備 API 標準化接入；重點設計 Tool 錯誤回傳格式（成功 / 失敗 / 部分失敗），確保 Agent 能正確判斷 retry 或 fallback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82B45"/>
          </a:solidFill>
          <a:ln w="12700">
            <a:solidFill>
              <a:srgbClr val="182B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Inference Cost &amp; 效能優化意識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C4CC"/>
                </a:solidFill>
              </a:rPr>
              <a:t>Latency × Token Usage × Cache 命中率 — 三維度成本控管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778240" y="0"/>
            <a:ext cx="365760" cy="68580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04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A87"/>
                </a:solidFill>
              </a:rPr>
              <a:t>成本三要素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115568"/>
            <a:ext cx="2651760" cy="914400"/>
          </a:xfrm>
          <a:prstGeom prst="rect">
            <a:avLst/>
          </a:prstGeom>
          <a:solidFill>
            <a:srgbClr val="182B45"/>
          </a:solidFill>
          <a:ln w="6350">
            <a:solidFill>
              <a:srgbClr val="007A87"/>
            </a:solidFill>
            <a:prstDash val="solid"/>
          </a:ln>
          <a:effectLst>
            <a:outerShdw sx="100000" sy="100000" kx="0" ky="0" algn="bl" rotWithShape="0" blurRad="76200" dist="25400" dir="8100000">
              <a:srgbClr val="182B45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1704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Input Tokens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40817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C4CC"/>
                </a:solidFill>
              </a:rPr>
              <a:t>每輪 Context 大小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65760" y="159105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DBDB"/>
                </a:solidFill>
              </a:rPr>
              <a:t>RAG Chunk 精準化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FDBDB"/>
                </a:solidFill>
              </a:rPr>
              <a:t>Progressive Disclosure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FDBDB"/>
                </a:solidFill>
              </a:rPr>
              <a:t>Prefix Cache 利用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154680" y="1115568"/>
            <a:ext cx="2651760" cy="914400"/>
          </a:xfrm>
          <a:prstGeom prst="rect">
            <a:avLst/>
          </a:prstGeom>
          <a:solidFill>
            <a:srgbClr val="007A87"/>
          </a:solidFill>
          <a:ln w="6350">
            <a:solidFill>
              <a:srgbClr val="007A87"/>
            </a:solidFill>
            <a:prstDash val="solid"/>
          </a:ln>
          <a:effectLst>
            <a:outerShdw sx="100000" sy="100000" kx="0" ky="0" algn="bl" rotWithShape="0" blurRad="76200" dist="25400" dir="8100000">
              <a:srgbClr val="182B45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46120" y="11704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Output Tokens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46120" y="140817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C4CC"/>
                </a:solidFill>
              </a:rPr>
              <a:t>≈ 5× Input 費率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246120" y="159105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DBDB"/>
                </a:solidFill>
              </a:rPr>
              <a:t>讓 Agent emit edits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FDBDB"/>
                </a:solidFill>
              </a:rPr>
              <a:t>而非整檔重寫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FDBDB"/>
                </a:solidFill>
              </a:rPr>
              <a:t>Tool Result 精簡設計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035040" y="1115568"/>
            <a:ext cx="2651760" cy="914400"/>
          </a:xfrm>
          <a:prstGeom prst="rect">
            <a:avLst/>
          </a:prstGeom>
          <a:solidFill>
            <a:srgbClr val="025A60"/>
          </a:solidFill>
          <a:ln w="6350">
            <a:solidFill>
              <a:srgbClr val="007A87"/>
            </a:solidFill>
            <a:prstDash val="solid"/>
          </a:ln>
          <a:effectLst>
            <a:outerShdw sx="100000" sy="100000" kx="0" ky="0" algn="bl" rotWithShape="0" blurRad="76200" dist="25400" dir="8100000">
              <a:srgbClr val="182B45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26480" y="11704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Round-trips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26480" y="140817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C4CC"/>
                </a:solidFill>
              </a:rPr>
              <a:t>每次 Tool Call = 1次請求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126480" y="159105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DBDB"/>
                </a:solidFill>
              </a:rPr>
              <a:t>批次查詢合併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FDBDB"/>
                </a:solidFill>
              </a:rPr>
              <a:t>Subagent 分擔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FDBDB"/>
                </a:solidFill>
              </a:rPr>
              <a:t>減少不必要 Tool Call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74320" y="21488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A87"/>
                </a:solidFill>
              </a:rPr>
              <a:t>優化策略對應到實際開發經驗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487168"/>
            <a:ext cx="1371600" cy="329184"/>
          </a:xfrm>
          <a:prstGeom prst="rect">
            <a:avLst/>
          </a:prstGeom>
          <a:solidFill>
            <a:srgbClr val="182B45"/>
          </a:solidFill>
          <a:ln w="3810">
            <a:solidFill>
              <a:srgbClr val="CCDD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48716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優化策略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691640" y="2487168"/>
            <a:ext cx="2286000" cy="329184"/>
          </a:xfrm>
          <a:prstGeom prst="rect">
            <a:avLst/>
          </a:prstGeom>
          <a:solidFill>
            <a:srgbClr val="182B45"/>
          </a:solidFill>
          <a:ln w="3810">
            <a:solidFill>
              <a:srgbClr val="CCDD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37360" y="248716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原理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023360" y="2487168"/>
            <a:ext cx="4846320" cy="329184"/>
          </a:xfrm>
          <a:prstGeom prst="rect">
            <a:avLst/>
          </a:prstGeom>
          <a:solidFill>
            <a:srgbClr val="182B45"/>
          </a:solidFill>
          <a:ln w="3810">
            <a:solidFill>
              <a:srgbClr val="CCDD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69080" y="248716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我的實踐對應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74320" y="2834640"/>
            <a:ext cx="1371600" cy="329184"/>
          </a:xfrm>
          <a:prstGeom prst="rect">
            <a:avLst/>
          </a:prstGeom>
          <a:solidFill>
            <a:srgbClr val="E6F2F4"/>
          </a:solidFill>
          <a:ln w="3810">
            <a:solidFill>
              <a:srgbClr val="CCDD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283464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4E60"/>
                </a:solidFill>
              </a:rPr>
              <a:t>Prefix Cache 固定化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691640" y="2834640"/>
            <a:ext cx="228600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CCDD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37360" y="28346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4E60"/>
                </a:solidFill>
              </a:rPr>
              <a:t>System Prompt 穩定 → 前綴共享 → 折扣費率計費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023360" y="2834640"/>
            <a:ext cx="484632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CCDD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69080" y="283464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4E60"/>
                </a:solidFill>
              </a:rPr>
              <a:t>自主開發時實測：System Prompt 混入時間戳記後 Cache 命中率歸零；改為靜態 System Prompt + 動態 User Turn，Input Token 費用明顯下降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74320" y="3182112"/>
            <a:ext cx="1371600" cy="329184"/>
          </a:xfrm>
          <a:prstGeom prst="rect">
            <a:avLst/>
          </a:prstGeom>
          <a:solidFill>
            <a:srgbClr val="E6F2F4"/>
          </a:solidFill>
          <a:ln w="3810">
            <a:solidFill>
              <a:srgbClr val="CCDD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318211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4E60"/>
                </a:solidFill>
              </a:rPr>
              <a:t>RAG Top-K 精準控制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691640" y="3182112"/>
            <a:ext cx="228600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CCDD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737360" y="318211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4E60"/>
                </a:solidFill>
              </a:rPr>
              <a:t>只取最相關 K 個 Chunk → 減少 Input Token 噪聲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023360" y="3182112"/>
            <a:ext cx="484632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CCDD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69080" y="318211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4E60"/>
                </a:solidFill>
              </a:rPr>
              <a:t>RAG 開發中測試純語義切片 vs. 固定大小切片 + metadata filter，後者對含數值規格的 SOP 段落召回率更高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74320" y="3529584"/>
            <a:ext cx="1371600" cy="329184"/>
          </a:xfrm>
          <a:prstGeom prst="rect">
            <a:avLst/>
          </a:prstGeom>
          <a:solidFill>
            <a:srgbClr val="E6F2F4"/>
          </a:solidFill>
          <a:ln w="3810">
            <a:solidFill>
              <a:srgbClr val="CCDD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352958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4E60"/>
                </a:solidFill>
              </a:rPr>
              <a:t>Memory Compaction 時機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691640" y="3529584"/>
            <a:ext cx="228600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CCDD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737360" y="352958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4E60"/>
                </a:solidFill>
              </a:rPr>
              <a:t>Context 進入混沌區前主動壓縮 → 保留關鍵 State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023360" y="3529584"/>
            <a:ext cx="484632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CCDD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069080" y="352958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4E60"/>
                </a:solidFill>
              </a:rPr>
              <a:t>MES 工作階段設計：關鍵 State 在每段結束前寫入持久化儲存，下次啟動精準重載，不重新讀取全量歷史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74320" y="3877056"/>
            <a:ext cx="1371600" cy="329184"/>
          </a:xfrm>
          <a:prstGeom prst="rect">
            <a:avLst/>
          </a:prstGeom>
          <a:solidFill>
            <a:srgbClr val="E6F2F4"/>
          </a:solidFill>
          <a:ln w="3810">
            <a:solidFill>
              <a:srgbClr val="CCDD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387705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4E60"/>
                </a:solidFill>
              </a:rPr>
              <a:t>Subagent 分擔 Context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1691640" y="3877056"/>
            <a:ext cx="228600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CCDD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737360" y="387705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4E60"/>
                </a:solidFill>
              </a:rPr>
              <a:t>大任務拆分 → 各 Subagent 獨立 Context Window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023360" y="3877056"/>
            <a:ext cx="484632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CCDDE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069080" y="387705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4E60"/>
                </a:solidFill>
              </a:rPr>
              <a:t>LangGraph 實作中驗證：三個 Subagent 各帶獨立 Context Window，主 Agent 僅接收結構化摘要，避免 Context 膨脹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74320" y="4224528"/>
            <a:ext cx="1371600" cy="329184"/>
          </a:xfrm>
          <a:prstGeom prst="rect">
            <a:avLst/>
          </a:prstGeom>
          <a:solidFill>
            <a:srgbClr val="E6F2F4"/>
          </a:solidFill>
          <a:ln w="3810">
            <a:solidFill>
              <a:srgbClr val="CCDDE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0040" y="42245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4E60"/>
                </a:solidFill>
              </a:rPr>
              <a:t>Tool Result 精簡設計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1691640" y="4224528"/>
            <a:ext cx="228600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CCDD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737360" y="422452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4E60"/>
                </a:solidFill>
              </a:rPr>
              <a:t>只回傳 Agent 決策所需欄位 → 降低 Output Token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023360" y="4224528"/>
            <a:ext cx="484632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CCDDE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069080" y="422452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4E60"/>
                </a:solidFill>
              </a:rPr>
              <a:t>MCP Tool Server 設計：Tool 錯誤回傳分三態（成功 / 失敗 / 部分失敗），回傳欄位限定 Agent 決策所需，避免整表 dump 進 Context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82B45"/>
          </a:solidFill>
          <a:ln w="12700">
            <a:solidFill>
              <a:srgbClr val="182B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學歷 &amp; 為什麼選我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C4CC"/>
                </a:solidFill>
              </a:rPr>
              <a:t>完整的 AI Agent Systems Engineer 能力矩陣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778240" y="0"/>
            <a:ext cx="365760" cy="68580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046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A87"/>
                </a:solidFill>
              </a:rPr>
              <a:t>學歷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115568"/>
            <a:ext cx="8595360" cy="530352"/>
          </a:xfrm>
          <a:prstGeom prst="rect">
            <a:avLst/>
          </a:prstGeom>
          <a:solidFill>
            <a:srgbClr val="0D2035"/>
          </a:solidFill>
          <a:ln w="5080">
            <a:solidFill>
              <a:srgbClr val="007A8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115568"/>
            <a:ext cx="54864" cy="530352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5214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資訊科學碩士專班（在學）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137160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C4CC"/>
                </a:solidFill>
              </a:rPr>
              <a:t>國立陽明交通大學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498080" y="115214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DBDB"/>
                </a:solidFill>
              </a:rPr>
              <a:t>2024–2026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931920" y="115214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Big Data Analytics、Data Mining、AI/MLOps、ML　研究方向：LLM × RAG 應用於製造業良率預測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" y="1709928"/>
            <a:ext cx="8595360" cy="530352"/>
          </a:xfrm>
          <a:prstGeom prst="rect">
            <a:avLst/>
          </a:prstGeom>
          <a:solidFill>
            <a:srgbClr val="0A1825"/>
          </a:solidFill>
          <a:ln w="5080">
            <a:solidFill>
              <a:srgbClr val="007A8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1709928"/>
            <a:ext cx="54864" cy="530352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74650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物理學系　學士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196596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C4CC"/>
                </a:solidFill>
              </a:rPr>
              <a:t>國立中正大學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498080" y="174650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DBDB"/>
                </a:solidFill>
              </a:rPr>
              <a:t>2011–2015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931920" y="174650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系統化建模、抽象推理、實驗驗證——為 Spec 制定、Task 拆解與 Automated Check 驗收奠定方法論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74320" y="23957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A87"/>
                </a:solidFill>
              </a:rPr>
              <a:t>為什麼選我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724912"/>
            <a:ext cx="2697480" cy="868680"/>
          </a:xfrm>
          <a:prstGeom prst="rect">
            <a:avLst/>
          </a:prstGeom>
          <a:solidFill>
            <a:srgbClr val="0D1F30"/>
          </a:solidFill>
          <a:ln w="5080">
            <a:solidFill>
              <a:srgbClr val="007A87"/>
            </a:solidFill>
            <a:prstDash val="solid"/>
          </a:ln>
          <a:effectLst>
            <a:outerShdw sx="100000" sy="100000" kx="0" ky="0" algn="bl" rotWithShape="0" blurRad="76200" dist="25400" dir="8100000">
              <a:srgbClr val="182B45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724912"/>
            <a:ext cx="54864" cy="868680"/>
          </a:xfrm>
          <a:prstGeom prst="rect">
            <a:avLst/>
          </a:prstGeom>
          <a:solidFill>
            <a:srgbClr val="02A58F"/>
          </a:solidFill>
          <a:ln w="12700">
            <a:solidFill>
              <a:srgbClr val="02A5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77977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🔌 MCP 整合設計力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11480" y="3044952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8D8EA"/>
                </a:solidFill>
              </a:rPr>
              <a:t>8年 API / DB 整合經驗，能快速設計標準化 Tool Server，讓 Agent 以統一介面存取企業內部系統；已實作 Python MCP Tool Server，設計三態 Error Response 格式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154680" y="2724912"/>
            <a:ext cx="2697480" cy="868680"/>
          </a:xfrm>
          <a:prstGeom prst="rect">
            <a:avLst/>
          </a:prstGeom>
          <a:solidFill>
            <a:srgbClr val="0D1F30"/>
          </a:solidFill>
          <a:ln w="5080">
            <a:solidFill>
              <a:srgbClr val="007A87"/>
            </a:solidFill>
            <a:prstDash val="solid"/>
          </a:ln>
          <a:effectLst>
            <a:outerShdw sx="100000" sy="100000" kx="0" ky="0" algn="bl" rotWithShape="0" blurRad="76200" dist="25400" dir="8100000">
              <a:srgbClr val="182B45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54680" y="2724912"/>
            <a:ext cx="54864" cy="868680"/>
          </a:xfrm>
          <a:prstGeom prst="rect">
            <a:avLst/>
          </a:prstGeom>
          <a:solidFill>
            <a:srgbClr val="02A58F"/>
          </a:solidFill>
          <a:ln w="12700">
            <a:solidFill>
              <a:srgbClr val="02A5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277977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📚 RAG &amp; Cache 優化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291840" y="3044952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8D8EA"/>
                </a:solidFill>
              </a:rPr>
              <a:t>實測 Chunking 策略差異與 Prefix Cache 命中率敏感性；已驗證靜態 System Prompt 架構有效降低 Input Token 消耗，主動控管 Inference Cost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035040" y="2724912"/>
            <a:ext cx="2697480" cy="868680"/>
          </a:xfrm>
          <a:prstGeom prst="rect">
            <a:avLst/>
          </a:prstGeom>
          <a:solidFill>
            <a:srgbClr val="0D1F30"/>
          </a:solidFill>
          <a:ln w="5080">
            <a:solidFill>
              <a:srgbClr val="007A87"/>
            </a:solidFill>
            <a:prstDash val="solid"/>
          </a:ln>
          <a:effectLst>
            <a:outerShdw sx="100000" sy="100000" kx="0" ky="0" algn="bl" rotWithShape="0" blurRad="76200" dist="25400" dir="8100000">
              <a:srgbClr val="182B45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35040" y="2724912"/>
            <a:ext cx="54864" cy="868680"/>
          </a:xfrm>
          <a:prstGeom prst="rect">
            <a:avLst/>
          </a:prstGeom>
          <a:solidFill>
            <a:srgbClr val="02A58F"/>
          </a:solidFill>
          <a:ln w="12700">
            <a:solidFill>
              <a:srgbClr val="02A5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72200" y="277977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🔗 LangChain 實戰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172200" y="3044952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8D8EA"/>
                </a:solidFill>
              </a:rPr>
              <a:t>LangChain LCEL / LangGraph Stateful Multi-Agent 自主開發；實際遇到並解決 Context 膨脹、Tool Error Handling、Prefix Cache 失效等 Agent 常見失效模式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74320" y="3685032"/>
            <a:ext cx="2697480" cy="868680"/>
          </a:xfrm>
          <a:prstGeom prst="rect">
            <a:avLst/>
          </a:prstGeom>
          <a:solidFill>
            <a:srgbClr val="0D1F30"/>
          </a:solidFill>
          <a:ln w="5080">
            <a:solidFill>
              <a:srgbClr val="007A87"/>
            </a:solidFill>
            <a:prstDash val="solid"/>
          </a:ln>
          <a:effectLst>
            <a:outerShdw sx="100000" sy="100000" kx="0" ky="0" algn="bl" rotWithShape="0" blurRad="76200" dist="25400" dir="8100000">
              <a:srgbClr val="182B45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3685032"/>
            <a:ext cx="54864" cy="868680"/>
          </a:xfrm>
          <a:prstGeom prst="rect">
            <a:avLst/>
          </a:prstGeom>
          <a:solidFill>
            <a:srgbClr val="02A58F"/>
          </a:solidFill>
          <a:ln w="12700">
            <a:solidFill>
              <a:srgbClr val="02A58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373989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🏗️ Harness 設計力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11480" y="4005072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8D8EA"/>
                </a:solidFill>
              </a:rPr>
              <a:t>8年製程+MES雙視角，精確設計 Tool/System Prompt/Permission Mode 完整 Harness 層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154680" y="3685032"/>
            <a:ext cx="2697480" cy="868680"/>
          </a:xfrm>
          <a:prstGeom prst="rect">
            <a:avLst/>
          </a:prstGeom>
          <a:solidFill>
            <a:srgbClr val="0D1F30"/>
          </a:solidFill>
          <a:ln w="5080">
            <a:solidFill>
              <a:srgbClr val="007A87"/>
            </a:solidFill>
            <a:prstDash val="solid"/>
          </a:ln>
          <a:effectLst>
            <a:outerShdw sx="100000" sy="100000" kx="0" ky="0" algn="bl" rotWithShape="0" blurRad="76200" dist="25400" dir="8100000">
              <a:srgbClr val="182B45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154680" y="3685032"/>
            <a:ext cx="54864" cy="868680"/>
          </a:xfrm>
          <a:prstGeom prst="rect">
            <a:avLst/>
          </a:prstGeom>
          <a:solidFill>
            <a:srgbClr val="02A58F"/>
          </a:solidFill>
          <a:ln w="12700">
            <a:solidFill>
              <a:srgbClr val="02A58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91840" y="373989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🏭 業務邏輯轉譯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291840" y="4005072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8D8EA"/>
                </a:solidFill>
              </a:rPr>
              <a:t>跨越「技術可行」與「業務真正需要」——模糊需求轉為精確 Agent Task/Tool 規格是核心優勢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035040" y="3685032"/>
            <a:ext cx="2697480" cy="868680"/>
          </a:xfrm>
          <a:prstGeom prst="rect">
            <a:avLst/>
          </a:prstGeom>
          <a:solidFill>
            <a:srgbClr val="0D1F30"/>
          </a:solidFill>
          <a:ln w="5080">
            <a:solidFill>
              <a:srgbClr val="007A87"/>
            </a:solidFill>
            <a:prstDash val="solid"/>
          </a:ln>
          <a:effectLst>
            <a:outerShdw sx="100000" sy="100000" kx="0" ky="0" algn="bl" rotWithShape="0" blurRad="76200" dist="25400" dir="8100000">
              <a:srgbClr val="182B45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035040" y="3685032"/>
            <a:ext cx="54864" cy="868680"/>
          </a:xfrm>
          <a:prstGeom prst="rect">
            <a:avLst/>
          </a:prstGeom>
          <a:solidFill>
            <a:srgbClr val="02A58F"/>
          </a:solidFill>
          <a:ln w="12700">
            <a:solidFill>
              <a:srgbClr val="02A58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72200" y="373989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✅ AI 落地完整經歷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172200" y="4005072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8D8EA"/>
                </a:solidFill>
              </a:rPr>
              <a:t>Probe Mark AI 從需求→驗收→上線，熟悉 Non-determinism/Hallucination 企業場景控管策略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2026-06-02T00:57:41Z</dcterms:created>
  <dcterms:modified xsi:type="dcterms:W3CDTF">2026-06-02T00:57:41Z</dcterms:modified>
</cp:coreProperties>
</file>