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460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C89B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RESUME · AI ENGINEER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陳昱齊</a:t>
            </a:r>
            <a:r>
              <a:rPr lang="en-US" sz="2600" dirty="0">
                <a:solidFill>
                  <a:srgbClr val="6F67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Yu-Chi Chen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3364992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TW" sz="2400" b="1" dirty="0" smtClean="0">
                <a:solidFill>
                  <a:srgbClr val="0F76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MES</a:t>
            </a:r>
            <a:r>
              <a:rPr lang="en-US" sz="2400" b="1" dirty="0" smtClean="0">
                <a:solidFill>
                  <a:srgbClr val="0F76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2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工程師　</a:t>
            </a:r>
            <a:r>
              <a:rPr lang="en-US" sz="2400" b="1" dirty="0">
                <a:solidFill>
                  <a:srgbClr val="0F76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│</a:t>
            </a:r>
            <a:r>
              <a:rPr lang="en-US" sz="2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</a:t>
            </a:r>
            <a:r>
              <a:rPr lang="en-US" sz="2400" b="1" dirty="0">
                <a:solidFill>
                  <a:srgbClr val="0F76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Serving / </a:t>
            </a:r>
            <a:r>
              <a:rPr lang="en-US" sz="2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製造</a:t>
            </a:r>
            <a:r>
              <a:rPr lang="en-US" sz="2400" b="1" dirty="0">
                <a:solidFill>
                  <a:srgbClr val="0F76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AI × </a:t>
            </a:r>
            <a:r>
              <a:rPr lang="en-US" sz="2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模型上線與評估</a:t>
            </a:r>
            <a:r>
              <a:rPr lang="en-US" sz="2400" b="1" dirty="0">
                <a:solidFill>
                  <a:srgbClr val="0F76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</a:t>
            </a:r>
            <a:r>
              <a:rPr lang="en-US" sz="2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半導體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4251960"/>
            <a:ext cx="7315200" cy="0"/>
          </a:xfrm>
          <a:prstGeom prst="line">
            <a:avLst/>
          </a:prstGeom>
          <a:noFill/>
          <a:ln w="19050">
            <a:solidFill>
              <a:srgbClr val="E4DE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4507992"/>
            <a:ext cx="310896" cy="310896"/>
          </a:xfrm>
          <a:prstGeom prst="rect">
            <a:avLst/>
          </a:prstGeom>
          <a:solidFill>
            <a:srgbClr val="C89B3C"/>
          </a:solidFill>
          <a:ln/>
        </p:spPr>
      </p:sp>
      <p:pic>
        <p:nvPicPr>
          <p:cNvPr id="7" name="Image 0" descr="/home/claude/work/icons/envelop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57" y="4576389"/>
            <a:ext cx="174102" cy="1741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447141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F67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chyi6295@gmail.com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4928616"/>
            <a:ext cx="310896" cy="310896"/>
          </a:xfrm>
          <a:prstGeom prst="rect">
            <a:avLst/>
          </a:prstGeom>
          <a:solidFill>
            <a:srgbClr val="C89B3C"/>
          </a:solidFill>
          <a:ln/>
        </p:spPr>
      </p:sp>
      <p:pic>
        <p:nvPicPr>
          <p:cNvPr id="10" name="Image 1" descr="/home/claude/work/icons/phon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357" y="4997013"/>
            <a:ext cx="174102" cy="1741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61872" y="48920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F67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0986-989798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22960" y="5349240"/>
            <a:ext cx="310896" cy="310896"/>
          </a:xfrm>
          <a:prstGeom prst="rect">
            <a:avLst/>
          </a:prstGeom>
          <a:solidFill>
            <a:srgbClr val="C89B3C"/>
          </a:solidFill>
          <a:ln/>
        </p:spPr>
      </p:sp>
      <p:pic>
        <p:nvPicPr>
          <p:cNvPr id="13" name="Image 2" descr="/home/claude/work/icons/github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357" y="5417637"/>
            <a:ext cx="174102" cy="1741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61872" y="531266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F67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github.com/HaleyChui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822960" y="5769864"/>
            <a:ext cx="310896" cy="310896"/>
          </a:xfrm>
          <a:prstGeom prst="rect">
            <a:avLst/>
          </a:prstGeom>
          <a:solidFill>
            <a:srgbClr val="C89B3C"/>
          </a:solidFill>
          <a:ln/>
        </p:spPr>
      </p:sp>
      <p:pic>
        <p:nvPicPr>
          <p:cNvPr id="16" name="Image 3" descr="/home/claude/work/icons/gradca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357" y="5838261"/>
            <a:ext cx="174102" cy="17410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61872" y="573328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F67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國立陽明交通大學</a:t>
            </a:r>
            <a:r>
              <a:rPr lang="en-US" sz="1500" dirty="0">
                <a:solidFill>
                  <a:srgbClr val="6F67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500" dirty="0">
                <a:solidFill>
                  <a:srgbClr val="6F67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資訊科學碩士專班（在學）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943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9B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16152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學歷</a:t>
            </a:r>
            <a:r>
              <a:rPr lang="en-US" sz="4000" b="1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</a:t>
            </a:r>
            <a:r>
              <a:rPr lang="en-US" sz="4000" b="1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為什麼選我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E4DE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522976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45720" cy="13258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Shape 6"/>
          <p:cNvSpPr/>
          <p:nvPr/>
        </p:nvSpPr>
        <p:spPr>
          <a:xfrm>
            <a:off x="5413248" y="1581912"/>
            <a:ext cx="365760" cy="36576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9" name="Image 0" descr="/home/claude/work/icons/gradc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544" y="1664208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1600200"/>
            <a:ext cx="4517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碩士（在學）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1965960"/>
            <a:ext cx="4517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國立陽明交通大學</a:t>
            </a:r>
            <a:r>
              <a:rPr lang="en-US" sz="1800" b="1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800" b="1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資訊科學碩士專班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77240" y="2468880"/>
            <a:ext cx="4882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F67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2024 – </a:t>
            </a:r>
            <a:r>
              <a:rPr lang="en-US" sz="1300" dirty="0">
                <a:solidFill>
                  <a:srgbClr val="6F67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預計</a:t>
            </a:r>
            <a:r>
              <a:rPr lang="en-US" sz="1300" dirty="0">
                <a:solidFill>
                  <a:srgbClr val="6F67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2026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08776" y="1417320"/>
            <a:ext cx="5522976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08776" y="1417320"/>
            <a:ext cx="45720" cy="13258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5" name="Shape 12"/>
          <p:cNvSpPr/>
          <p:nvPr/>
        </p:nvSpPr>
        <p:spPr>
          <a:xfrm>
            <a:off x="11164824" y="1581912"/>
            <a:ext cx="365760" cy="36576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16" name="Image 1" descr="/home/claude/work/icons/gradc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1664208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528816" y="1600200"/>
            <a:ext cx="4517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49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學士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528816" y="1965960"/>
            <a:ext cx="4517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國立中正大學</a:t>
            </a:r>
            <a:r>
              <a:rPr lang="en-US" sz="1800" b="1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800" b="1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物理學系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528816" y="2468880"/>
            <a:ext cx="4882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F67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2011 – 2015</a:t>
            </a:r>
            <a:r>
              <a:rPr lang="en-US" sz="1300" dirty="0">
                <a:solidFill>
                  <a:srgbClr val="6F67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</a:t>
            </a:r>
            <a:r>
              <a:rPr lang="en-US" sz="1300" dirty="0">
                <a:solidFill>
                  <a:srgbClr val="6F67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│</a:t>
            </a:r>
            <a:r>
              <a:rPr lang="en-US" sz="1300" dirty="0">
                <a:solidFill>
                  <a:srgbClr val="6F67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系統化建模與實驗驗證方法論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57200" y="3063240"/>
            <a:ext cx="3639312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319272" y="31363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7D3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685800" y="3291840"/>
            <a:ext cx="384048" cy="384048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23" name="Image 2" descr="/home/claude/work/icons/plu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211" y="3378251"/>
            <a:ext cx="211226" cy="21122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207008" y="326440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</a:t>
            </a:r>
            <a:r>
              <a:rPr lang="en-US" sz="1800" b="1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整合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685800" y="3840480"/>
            <a:ext cx="3182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F67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</a:t>
            </a:r>
            <a:r>
              <a:rPr lang="en-US" sz="1300" dirty="0">
                <a:solidFill>
                  <a:srgbClr val="6F67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</a:t>
            </a:r>
            <a:r>
              <a:rPr lang="en-US" sz="1300" dirty="0">
                <a:solidFill>
                  <a:srgbClr val="6F67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MES </a:t>
            </a:r>
            <a:r>
              <a:rPr lang="en-US" sz="1300" dirty="0">
                <a:solidFill>
                  <a:srgbClr val="6F67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開發，新舊系統都能銜接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4279392" y="3063240"/>
            <a:ext cx="3639312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3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141464" y="31363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7D3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200" dirty="0"/>
          </a:p>
        </p:txBody>
      </p:sp>
      <p:sp>
        <p:nvSpPr>
          <p:cNvPr id="28" name="Shape 23"/>
          <p:cNvSpPr/>
          <p:nvPr/>
        </p:nvSpPr>
        <p:spPr>
          <a:xfrm>
            <a:off x="4507992" y="3291840"/>
            <a:ext cx="384048" cy="384048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29" name="Image 3" descr="/home/claude/work/icons/industr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403" y="3378251"/>
            <a:ext cx="211226" cy="21122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029200" y="326440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應產線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4507992" y="3840480"/>
            <a:ext cx="3182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F67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 </a:t>
            </a:r>
            <a:r>
              <a:rPr lang="en-US" sz="1300" dirty="0">
                <a:solidFill>
                  <a:srgbClr val="6F67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年製程經驗，與工程單位密切合作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8101584" y="3063240"/>
            <a:ext cx="3639312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3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10963656" y="31363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7D3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200" dirty="0"/>
          </a:p>
        </p:txBody>
      </p:sp>
      <p:sp>
        <p:nvSpPr>
          <p:cNvPr id="34" name="Shape 28"/>
          <p:cNvSpPr/>
          <p:nvPr/>
        </p:nvSpPr>
        <p:spPr>
          <a:xfrm>
            <a:off x="8330184" y="3291840"/>
            <a:ext cx="384048" cy="384048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35" name="Image 4" descr="/home/claude/work/icons/clipboar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6595" y="3378251"/>
            <a:ext cx="211226" cy="21122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851392" y="3264408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需求轉規格</a:t>
            </a:r>
            <a:endParaRPr lang="en-US" sz="1800" dirty="0"/>
          </a:p>
        </p:txBody>
      </p:sp>
      <p:sp>
        <p:nvSpPr>
          <p:cNvPr id="37" name="Text 30"/>
          <p:cNvSpPr/>
          <p:nvPr/>
        </p:nvSpPr>
        <p:spPr>
          <a:xfrm>
            <a:off x="8330184" y="3840480"/>
            <a:ext cx="3182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F67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現場問題轉為可執行的開發規格</a:t>
            </a:r>
            <a:endParaRPr lang="en-US" sz="1300" dirty="0"/>
          </a:p>
        </p:txBody>
      </p:sp>
      <p:sp>
        <p:nvSpPr>
          <p:cNvPr id="38" name="Shape 31"/>
          <p:cNvSpPr/>
          <p:nvPr/>
        </p:nvSpPr>
        <p:spPr>
          <a:xfrm>
            <a:off x="457200" y="4919472"/>
            <a:ext cx="3639312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3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3319272" y="49926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7D3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2200" dirty="0"/>
          </a:p>
        </p:txBody>
      </p:sp>
      <p:sp>
        <p:nvSpPr>
          <p:cNvPr id="40" name="Shape 33"/>
          <p:cNvSpPr/>
          <p:nvPr/>
        </p:nvSpPr>
        <p:spPr>
          <a:xfrm>
            <a:off x="685800" y="5148072"/>
            <a:ext cx="384048" cy="384048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41" name="Image 5" descr="/home/claude/work/icons/ey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211" y="5234483"/>
            <a:ext cx="211226" cy="211226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1207008" y="51206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影像辨識上線</a:t>
            </a:r>
            <a:endParaRPr lang="en-US" sz="1800" dirty="0"/>
          </a:p>
        </p:txBody>
      </p:sp>
      <p:sp>
        <p:nvSpPr>
          <p:cNvPr id="43" name="Text 35"/>
          <p:cNvSpPr/>
          <p:nvPr/>
        </p:nvSpPr>
        <p:spPr>
          <a:xfrm>
            <a:off x="685800" y="5696712"/>
            <a:ext cx="3182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F67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實際運行於產線並處理誤判與異常</a:t>
            </a:r>
            <a:endParaRPr lang="en-US" sz="1300" dirty="0"/>
          </a:p>
        </p:txBody>
      </p:sp>
      <p:sp>
        <p:nvSpPr>
          <p:cNvPr id="44" name="Shape 36"/>
          <p:cNvSpPr/>
          <p:nvPr/>
        </p:nvSpPr>
        <p:spPr>
          <a:xfrm>
            <a:off x="4279392" y="4919472"/>
            <a:ext cx="3639312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3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7141464" y="49926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7D3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2200" dirty="0"/>
          </a:p>
        </p:txBody>
      </p:sp>
      <p:sp>
        <p:nvSpPr>
          <p:cNvPr id="46" name="Shape 38"/>
          <p:cNvSpPr/>
          <p:nvPr/>
        </p:nvSpPr>
        <p:spPr>
          <a:xfrm>
            <a:off x="4507992" y="5148072"/>
            <a:ext cx="384048" cy="384048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47" name="Image 6" descr="/home/claude/work/icons/puzzl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4403" y="5234483"/>
            <a:ext cx="211226" cy="211226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5029200" y="51206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拆解問題</a:t>
            </a:r>
            <a:endParaRPr lang="en-US" sz="1800" dirty="0"/>
          </a:p>
        </p:txBody>
      </p:sp>
      <p:sp>
        <p:nvSpPr>
          <p:cNvPr id="49" name="Text 40"/>
          <p:cNvSpPr/>
          <p:nvPr/>
        </p:nvSpPr>
        <p:spPr>
          <a:xfrm>
            <a:off x="4507992" y="5696712"/>
            <a:ext cx="3182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F67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拆解結構定位瓶頸點，追到根因為止</a:t>
            </a:r>
            <a:endParaRPr lang="en-US" sz="1300" dirty="0"/>
          </a:p>
        </p:txBody>
      </p:sp>
      <p:sp>
        <p:nvSpPr>
          <p:cNvPr id="50" name="Shape 41"/>
          <p:cNvSpPr/>
          <p:nvPr/>
        </p:nvSpPr>
        <p:spPr>
          <a:xfrm>
            <a:off x="8101584" y="4919472"/>
            <a:ext cx="3639312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3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10963656" y="49926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7D3A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2200" dirty="0"/>
          </a:p>
        </p:txBody>
      </p:sp>
      <p:sp>
        <p:nvSpPr>
          <p:cNvPr id="52" name="Shape 43"/>
          <p:cNvSpPr/>
          <p:nvPr/>
        </p:nvSpPr>
        <p:spPr>
          <a:xfrm>
            <a:off x="8330184" y="5148072"/>
            <a:ext cx="384048" cy="384048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53" name="Image 7" descr="/home/claude/work/icons/shield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6595" y="5234483"/>
            <a:ext cx="211226" cy="211226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8851392" y="51206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嚴謹的異常處理</a:t>
            </a:r>
            <a:endParaRPr lang="en-US" sz="1800" dirty="0"/>
          </a:p>
        </p:txBody>
      </p:sp>
      <p:sp>
        <p:nvSpPr>
          <p:cNvPr id="55" name="Text 45"/>
          <p:cNvSpPr/>
          <p:nvPr/>
        </p:nvSpPr>
        <p:spPr>
          <a:xfrm>
            <a:off x="8330184" y="5696712"/>
            <a:ext cx="31821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F67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</a:t>
            </a:r>
            <a:r>
              <a:rPr lang="en-US" sz="1300" dirty="0">
                <a:solidFill>
                  <a:srgbClr val="6F67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Fallback</a:t>
            </a:r>
            <a:r>
              <a:rPr lang="en-US" sz="1300" dirty="0">
                <a:solidFill>
                  <a:srgbClr val="6F67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、日誌與人工複核流程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943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9B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16152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個人定位</a:t>
            </a:r>
            <a:r>
              <a:rPr lang="en-US" sz="4000" b="1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</a:t>
            </a:r>
            <a:r>
              <a:rPr lang="en-US" sz="4000" b="1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核心技術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6F67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 </a:t>
            </a:r>
            <a:r>
              <a:rPr lang="en-US" sz="1600" dirty="0">
                <a:solidFill>
                  <a:srgbClr val="6F67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年半導體實戰（製程</a:t>
            </a:r>
            <a:r>
              <a:rPr lang="en-US" sz="1600" dirty="0">
                <a:solidFill>
                  <a:srgbClr val="6F67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7 </a:t>
            </a:r>
            <a:r>
              <a:rPr lang="en-US" sz="1600" dirty="0">
                <a:solidFill>
                  <a:srgbClr val="6F67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</a:t>
            </a:r>
            <a:r>
              <a:rPr lang="en-US" sz="1600" dirty="0">
                <a:solidFill>
                  <a:srgbClr val="6F67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MES IT 2 </a:t>
            </a:r>
            <a:r>
              <a:rPr lang="en-US" sz="1600" dirty="0">
                <a:solidFill>
                  <a:srgbClr val="6F67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年）</a:t>
            </a:r>
            <a:r>
              <a:rPr lang="en-US" sz="1600" dirty="0">
                <a:solidFill>
                  <a:srgbClr val="6F675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 </a:t>
            </a:r>
            <a:r>
              <a:rPr lang="en-US" sz="1600" dirty="0">
                <a:solidFill>
                  <a:srgbClr val="6F67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陽明交大資科碩專班在學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73352"/>
            <a:ext cx="11274552" cy="0"/>
          </a:xfrm>
          <a:prstGeom prst="line">
            <a:avLst/>
          </a:prstGeom>
          <a:noFill/>
          <a:ln w="12700">
            <a:solidFill>
              <a:srgbClr val="E4DE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5522976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0"/>
            <a:ext cx="5522976" cy="3657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084832"/>
            <a:ext cx="329184" cy="329184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10" name="Image 0" descr="/home/claude/work/icons/cod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586" y="2158898"/>
            <a:ext cx="181051" cy="18105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52144" y="2084832"/>
            <a:ext cx="4553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核心技術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1520" y="2432304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 C#  .NET Core  SQL  REST API  </a:t>
            </a:r>
            <a:r>
              <a:rPr lang="en-US" sz="14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批次</a:t>
            </a:r>
            <a:r>
              <a:rPr lang="en-US" sz="14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</a:t>
            </a:r>
            <a:r>
              <a:rPr lang="en-US" sz="14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串流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31520" y="3035808"/>
            <a:ext cx="329184" cy="329184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14" name="Image 1" descr="/home/claude/work/icons/tool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86" y="3109874"/>
            <a:ext cx="181051" cy="18105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52144" y="3035808"/>
            <a:ext cx="4553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工程實踐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31520" y="3364992"/>
            <a:ext cx="49743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MLOps </a:t>
            </a:r>
            <a:r>
              <a:rPr lang="en-US" sz="135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</a:t>
            </a:r>
            <a:r>
              <a:rPr lang="en-US" sz="135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</a:t>
            </a:r>
            <a:r>
              <a:rPr lang="en-US" sz="135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監控</a:t>
            </a:r>
            <a:r>
              <a:rPr lang="en-US" sz="135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</a:t>
            </a:r>
            <a:r>
              <a:rPr lang="en-US" sz="135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模型上線</a:t>
            </a:r>
            <a:r>
              <a:rPr lang="en-US" sz="135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Retry / Fallback  Logging / Tracing  State </a:t>
            </a:r>
            <a:r>
              <a:rPr lang="en-US" sz="135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持久化</a:t>
            </a:r>
            <a:r>
              <a:rPr lang="en-US" sz="135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SOP </a:t>
            </a:r>
            <a:r>
              <a:rPr lang="en-US" sz="135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與防呆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6208776" y="1920240"/>
            <a:ext cx="5522976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08776" y="1920240"/>
            <a:ext cx="5522976" cy="3657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9" name="Shape 15"/>
          <p:cNvSpPr/>
          <p:nvPr/>
        </p:nvSpPr>
        <p:spPr>
          <a:xfrm>
            <a:off x="6483096" y="2103120"/>
            <a:ext cx="329184" cy="329184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20" name="Image 2" descr="/home/claude/work/icons/robo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7162" y="2177186"/>
            <a:ext cx="181051" cy="18105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0372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Serving / Agent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483096" y="2468880"/>
            <a:ext cx="49743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LangGraph </a:t>
            </a:r>
            <a:r>
              <a:rPr lang="en-US" sz="14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工作流</a:t>
            </a:r>
            <a:r>
              <a:rPr lang="en-US" sz="14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RAG</a:t>
            </a:r>
            <a:r>
              <a:rPr lang="en-US" sz="14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</a:t>
            </a:r>
            <a:r>
              <a:rPr lang="en-US" sz="14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faiss</a:t>
            </a:r>
            <a:r>
              <a:rPr lang="en-US" sz="14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r>
              <a:rPr lang="en-US" sz="14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Tool Use / MCP  API </a:t>
            </a:r>
            <a:r>
              <a:rPr lang="en-US" sz="14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服務化</a:t>
            </a:r>
            <a:r>
              <a:rPr lang="en-US" sz="14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Eval</a:t>
            </a:r>
            <a:r>
              <a:rPr lang="en-US" sz="14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</a:t>
            </a:r>
            <a:r>
              <a:rPr lang="en-US" sz="14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LLM-as-judge</a:t>
            </a:r>
            <a:r>
              <a:rPr lang="en-US" sz="14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57200" y="4343400"/>
            <a:ext cx="1127455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C89B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r>
              <a:rPr lang="en-US" sz="14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LLM Serving </a:t>
            </a:r>
            <a:r>
              <a:rPr lang="en-US" sz="14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框架建置：以</a:t>
            </a:r>
            <a:r>
              <a:rPr lang="en-US" sz="14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LangGraph </a:t>
            </a:r>
            <a:r>
              <a:rPr lang="en-US" sz="14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</a:t>
            </a:r>
            <a:r>
              <a:rPr lang="en-US" sz="14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Agent </a:t>
            </a:r>
            <a:r>
              <a:rPr lang="en-US" sz="14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系統，實作</a:t>
            </a:r>
            <a:r>
              <a:rPr lang="en-US" sz="14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API </a:t>
            </a:r>
            <a:r>
              <a:rPr lang="en-US" sz="14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服務化與</a:t>
            </a:r>
            <a:r>
              <a:rPr lang="en-US" sz="14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Checkpoint </a:t>
            </a:r>
            <a:r>
              <a:rPr lang="en-US" sz="14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續跑，支撐</a:t>
            </a:r>
            <a:r>
              <a:rPr lang="en-US" sz="14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LLM </a:t>
            </a:r>
            <a:r>
              <a:rPr lang="en-US" sz="14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從原型穩定上線為生產服務。</a:t>
            </a:r>
            <a:endParaRPr lang="en-US" sz="1400" dirty="0"/>
          </a:p>
          <a:p>
            <a:pPr marL="0"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C89B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r>
              <a:rPr lang="en-US" sz="14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</a:t>
            </a:r>
            <a:r>
              <a:rPr lang="en-US" sz="14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原型產品化：主導</a:t>
            </a:r>
            <a:r>
              <a:rPr lang="en-US" sz="14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CV </a:t>
            </a:r>
            <a:r>
              <a:rPr lang="en-US" sz="14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模型上產線與</a:t>
            </a:r>
            <a:r>
              <a:rPr lang="en-US" sz="14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LLM </a:t>
            </a:r>
            <a:r>
              <a:rPr lang="en-US" sz="14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應用落地，從</a:t>
            </a:r>
            <a:r>
              <a:rPr lang="en-US" sz="14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PoC </a:t>
            </a:r>
            <a:r>
              <a:rPr lang="en-US" sz="14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推進成可維運系統。</a:t>
            </a:r>
            <a:endParaRPr lang="en-US" sz="1400" dirty="0"/>
          </a:p>
          <a:p>
            <a:pPr marL="0"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C89B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r>
              <a:rPr lang="en-US" sz="14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大規模即時數據後端：熟悉資料批次與串流處理、</a:t>
            </a:r>
            <a:r>
              <a:rPr lang="en-US" sz="14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 API </a:t>
            </a:r>
            <a:r>
              <a:rPr lang="en-US" sz="14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與外部系統介接，支援即時數據存取與分析。</a:t>
            </a:r>
            <a:endParaRPr lang="en-US" sz="1400" dirty="0"/>
          </a:p>
          <a:p>
            <a:pPr marL="0"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C89B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r>
              <a:rPr lang="en-US" sz="14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MLOps </a:t>
            </a:r>
            <a:r>
              <a:rPr lang="en-US" sz="14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與生產系統治理：建立</a:t>
            </a:r>
            <a:r>
              <a:rPr lang="en-US" sz="14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Error Fallback</a:t>
            </a:r>
            <a:r>
              <a:rPr lang="en-US" sz="14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sz="14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Logging/Tracing</a:t>
            </a:r>
            <a:r>
              <a:rPr lang="en-US" sz="14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en-US" sz="14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Human Review </a:t>
            </a:r>
            <a:r>
              <a:rPr lang="en-US" sz="14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</a:t>
            </a:r>
            <a:r>
              <a:rPr lang="en-US" sz="14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LLM-as-judge </a:t>
            </a:r>
            <a:r>
              <a:rPr lang="en-US" sz="14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評估，涵蓋部署、監控與自動化。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943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9B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16152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工作經歷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1274552" cy="0"/>
          </a:xfrm>
          <a:prstGeom prst="line">
            <a:avLst/>
          </a:prstGeom>
          <a:noFill/>
          <a:ln w="12700">
            <a:solidFill>
              <a:srgbClr val="E4DE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1274552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11274552" cy="3657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1536192"/>
            <a:ext cx="402336" cy="402336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9" name="Image 0" descr="/home/claude/work/icons/briefc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58" y="1626718"/>
            <a:ext cx="221285" cy="22128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43584" y="1554480"/>
            <a:ext cx="10213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MES IT </a:t>
            </a:r>
            <a:r>
              <a:rPr lang="en-US" sz="1800" b="1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工程師</a:t>
            </a:r>
            <a:r>
              <a:rPr lang="en-US" sz="1400" b="1" dirty="0">
                <a:solidFill>
                  <a:srgbClr val="0F76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2024/04 – </a:t>
            </a: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至今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2057400"/>
            <a:ext cx="107259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89B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r>
              <a:rPr lang="en-US" sz="13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MES </a:t>
            </a:r>
            <a:r>
              <a:rPr lang="en-US" sz="13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實作：以</a:t>
            </a:r>
            <a:r>
              <a:rPr lang="en-US" sz="13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C# / .NET Core </a:t>
            </a:r>
            <a:r>
              <a:rPr lang="en-US" sz="13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開發晶圓凸塊生產管控</a:t>
            </a:r>
            <a:r>
              <a:rPr lang="en-US" sz="13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API</a:t>
            </a:r>
            <a:r>
              <a:rPr lang="en-US" sz="13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，串接資料來源與設備介面。</a:t>
            </a:r>
            <a:endParaRPr lang="en-US" sz="1300" dirty="0"/>
          </a:p>
          <a:p>
            <a:pPr marL="0" indent="0">
              <a:lnSpc>
                <a:spcPct val="14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89B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r>
              <a:rPr lang="en-US" sz="13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模組化：資料讀寫與外部系統呼叫分離，維護或替換時不影響其他模組。</a:t>
            </a:r>
            <a:endParaRPr lang="en-US" sz="1300" dirty="0"/>
          </a:p>
          <a:p>
            <a:pPr marL="0" indent="0">
              <a:lnSpc>
                <a:spcPct val="14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89B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r>
              <a:rPr lang="en-US" sz="13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批次優化：將高頻查詢改為批次處理，減少系統與</a:t>
            </a:r>
            <a:r>
              <a:rPr lang="en-US" sz="13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API </a:t>
            </a:r>
            <a:r>
              <a:rPr lang="en-US" sz="13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的來回次數。</a:t>
            </a:r>
            <a:endParaRPr lang="en-US" sz="1300" dirty="0"/>
          </a:p>
          <a:p>
            <a:pPr marL="0" indent="0">
              <a:lnSpc>
                <a:spcPct val="14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89B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r>
              <a:rPr lang="en-US" sz="13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異常處理：建立</a:t>
            </a:r>
            <a:r>
              <a:rPr lang="en-US" sz="13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retry</a:t>
            </a:r>
            <a:r>
              <a:rPr lang="en-US" sz="13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、人工確認與交接紀錄流程，避免作業卡在錯誤循環。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4069080"/>
            <a:ext cx="11274552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4069080"/>
            <a:ext cx="11274552" cy="3657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4" name="Shape 11"/>
          <p:cNvSpPr/>
          <p:nvPr/>
        </p:nvSpPr>
        <p:spPr>
          <a:xfrm>
            <a:off x="713232" y="4187952"/>
            <a:ext cx="402336" cy="402336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15" name="Image 1" descr="/home/claude/work/icons/microchi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58" y="4278478"/>
            <a:ext cx="221285" cy="22128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43584" y="4206240"/>
            <a:ext cx="10213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製程工程師（晶圓測試）</a:t>
            </a:r>
            <a:r>
              <a:rPr lang="en-US" sz="1400" b="1" dirty="0">
                <a:solidFill>
                  <a:srgbClr val="0F76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2017/04 – 2024/03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731520" y="4709160"/>
            <a:ext cx="107259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89B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r>
              <a:rPr lang="en-US" sz="13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影像辨識導入：以</a:t>
            </a:r>
            <a:r>
              <a:rPr lang="en-US" sz="13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CNN </a:t>
            </a:r>
            <a:r>
              <a:rPr lang="en-US" sz="13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解決色差、異物與麻點誤判，推動影像辨識進入產線判定流程。</a:t>
            </a:r>
            <a:endParaRPr lang="en-US" sz="1300" dirty="0"/>
          </a:p>
          <a:p>
            <a:pPr marL="0" indent="0">
              <a:lnSpc>
                <a:spcPct val="14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89B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r>
              <a:rPr lang="en-US" sz="13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FMEA </a:t>
            </a:r>
            <a:r>
              <a:rPr lang="en-US" sz="13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風險分析：主導</a:t>
            </a:r>
            <a:r>
              <a:rPr lang="en-US" sz="13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50+ </a:t>
            </a:r>
            <a:r>
              <a:rPr lang="en-US" sz="13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場失效分析，建立標準作業與防呆機制。</a:t>
            </a:r>
            <a:endParaRPr lang="en-US" sz="1300" dirty="0"/>
          </a:p>
          <a:p>
            <a:pPr marL="0" indent="0">
              <a:lnSpc>
                <a:spcPct val="14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89B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r>
              <a:rPr lang="en-US" sz="13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國際客戶稽核：參與</a:t>
            </a:r>
            <a:r>
              <a:rPr lang="en-US" sz="13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Apple / Intel / BOSCH </a:t>
            </a:r>
            <a:r>
              <a:rPr lang="en-US" sz="13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</a:t>
            </a:r>
            <a:r>
              <a:rPr lang="en-US" sz="13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10+ </a:t>
            </a:r>
            <a:r>
              <a:rPr lang="en-US" sz="13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次稽核。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943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9B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16152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專案亮點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6F67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從現場問題到系統落地的完整經歷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73352"/>
            <a:ext cx="11274552" cy="0"/>
          </a:xfrm>
          <a:prstGeom prst="line">
            <a:avLst/>
          </a:prstGeom>
          <a:noFill/>
          <a:ln w="12700">
            <a:solidFill>
              <a:srgbClr val="E4DE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5504688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20240"/>
            <a:ext cx="5504688" cy="36576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B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303520" y="2103120"/>
            <a:ext cx="384048" cy="384048"/>
          </a:xfrm>
          <a:prstGeom prst="rect">
            <a:avLst/>
          </a:prstGeom>
          <a:solidFill>
            <a:srgbClr val="C89B3C"/>
          </a:solidFill>
          <a:ln/>
        </p:spPr>
      </p:sp>
      <p:pic>
        <p:nvPicPr>
          <p:cNvPr id="11" name="Image 0" descr="/home/claude/work/icons/camera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931" y="2189531"/>
            <a:ext cx="211226" cy="21122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31520" y="2560320"/>
            <a:ext cx="495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Probe Mark AI </a:t>
            </a:r>
            <a:r>
              <a:rPr lang="en-US" sz="2000" b="1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影像辨識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31520" y="320040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C89B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r>
              <a:rPr lang="en-US" sz="135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</a:t>
            </a:r>
            <a:r>
              <a:rPr lang="en-US" sz="135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CNN </a:t>
            </a:r>
            <a:r>
              <a:rPr lang="en-US" sz="135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做影像檢索與判定，解決</a:t>
            </a:r>
            <a:r>
              <a:rPr lang="en-US" sz="135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PAD </a:t>
            </a:r>
            <a:r>
              <a:rPr lang="en-US" sz="135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色差造成的誤判與雙框選定。</a:t>
            </a:r>
            <a:endParaRPr lang="en-US" sz="1350" dirty="0"/>
          </a:p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C89B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r>
              <a:rPr lang="en-US" sz="135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異物外觀與針痕高度相似，靠特徵條件限制區分。</a:t>
            </a:r>
            <a:endParaRPr lang="en-US" sz="1350" dirty="0"/>
          </a:p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C89B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r>
              <a:rPr lang="en-US" sz="135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實際運行於產線、可度量：每年為產線節省</a:t>
            </a:r>
            <a:r>
              <a:rPr lang="en-US" sz="135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295 </a:t>
            </a:r>
            <a:r>
              <a:rPr lang="en-US" sz="135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萬元。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236208" y="1920240"/>
            <a:ext cx="5504688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36208" y="1920240"/>
            <a:ext cx="5504688" cy="36576"/>
          </a:xfrm>
          <a:prstGeom prst="rect">
            <a:avLst/>
          </a:prstGeom>
          <a:solidFill>
            <a:srgbClr val="C89B3C"/>
          </a:solidFill>
          <a:ln/>
        </p:spPr>
      </p:sp>
      <p:sp>
        <p:nvSpPr>
          <p:cNvPr id="16" name="Text 13"/>
          <p:cNvSpPr/>
          <p:nvPr/>
        </p:nvSpPr>
        <p:spPr>
          <a:xfrm>
            <a:off x="6510528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B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2026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1082528" y="2103120"/>
            <a:ext cx="384048" cy="384048"/>
          </a:xfrm>
          <a:prstGeom prst="rect">
            <a:avLst/>
          </a:prstGeom>
          <a:solidFill>
            <a:srgbClr val="C89B3C"/>
          </a:solidFill>
          <a:ln/>
        </p:spPr>
      </p:sp>
      <p:pic>
        <p:nvPicPr>
          <p:cNvPr id="18" name="Image 1" descr="/home/claude/work/icons/cog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8939" y="2189531"/>
            <a:ext cx="211226" cy="21122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510528" y="2560320"/>
            <a:ext cx="4956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MES </a:t>
            </a:r>
            <a:r>
              <a:rPr lang="en-US" sz="2000" b="1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凸塊生產管控</a:t>
            </a:r>
            <a:r>
              <a:rPr lang="en-US" sz="2000" b="1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API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510528" y="3200400"/>
            <a:ext cx="495604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C89B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r>
              <a:rPr lang="en-US" sz="135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</a:t>
            </a:r>
            <a:r>
              <a:rPr lang="en-US" sz="135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.NET Core </a:t>
            </a:r>
            <a:r>
              <a:rPr lang="en-US" sz="135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開發生產管控系統。</a:t>
            </a:r>
            <a:endParaRPr lang="en-US" sz="1350" dirty="0"/>
          </a:p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C89B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r>
              <a:rPr lang="en-US" sz="135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資料存取與外部系統呼叫各自封裝成模組。</a:t>
            </a:r>
            <a:endParaRPr lang="en-US" sz="1350" dirty="0"/>
          </a:p>
          <a:p>
            <a:pPr marL="0" indent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C89B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●  </a:t>
            </a:r>
            <a:r>
              <a:rPr lang="en-US" sz="135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把不穩定的外部依賴兜住，做成可靠可維運的產線級服務。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943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E4DED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94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9B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16152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自傳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6F675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從製程現場到系統開發的路徑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73352"/>
            <a:ext cx="11274552" cy="0"/>
          </a:xfrm>
          <a:prstGeom prst="line">
            <a:avLst/>
          </a:prstGeom>
          <a:noFill/>
          <a:ln w="12700">
            <a:solidFill>
              <a:srgbClr val="E4DED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38528"/>
            <a:ext cx="292608" cy="292608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8" name="Image 0" descr="/home/claude/work/icons/seedl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48" y="1999976"/>
            <a:ext cx="169713" cy="16971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1920240"/>
            <a:ext cx="1089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起點：製程工程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2286000"/>
            <a:ext cx="11274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在南茂科技做了七年晶圓測試製程。</a:t>
            </a:r>
            <a:r>
              <a:rPr lang="en-US" sz="14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 </a:t>
            </a:r>
            <a:r>
              <a:rPr lang="en-US" sz="1400" dirty="0" err="1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多場失效分析，每一場都是從現象列假設、做實驗、驗證、修正</a:t>
            </a:r>
            <a:r>
              <a:rPr lang="en-US" sz="1400" dirty="0" err="1" smtClean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，最後收斂成標準作業與防呆機制</a:t>
            </a:r>
            <a:r>
              <a:rPr lang="en-US" sz="1400" dirty="0" smtClean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 err="1" smtClean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這段經歷讓我養成一個習慣</a:t>
            </a:r>
            <a:r>
              <a:rPr lang="en-US" sz="14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——</a:t>
            </a:r>
            <a:r>
              <a:rPr lang="en-US" sz="14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任何流程上線前，先想它會怎麼壞。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3538728"/>
            <a:ext cx="292608" cy="292608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12" name="Image 1" descr="/home/claude/work/icons/bol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648" y="3600176"/>
            <a:ext cx="169713" cy="16971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41248" y="3520440"/>
            <a:ext cx="1089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轉折：影像辨識上產線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3886200"/>
            <a:ext cx="112745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dirty="0" smtClean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</a:t>
            </a:r>
            <a:r>
              <a:rPr lang="zh-TW" altLang="en-US" sz="1400" dirty="0" smtClean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曾</a:t>
            </a:r>
            <a:r>
              <a:rPr lang="en-US" sz="1400" dirty="0" err="1" smtClean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主導</a:t>
            </a:r>
            <a:r>
              <a:rPr lang="en-US" sz="1400" dirty="0" smtClean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4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Probe Mark </a:t>
            </a:r>
            <a:r>
              <a:rPr lang="en-US" sz="1400" dirty="0" err="1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影像辨識系統上線</a:t>
            </a:r>
            <a:r>
              <a:rPr lang="en-US" sz="1400" dirty="0" smtClean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 err="1" smtClean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最難的不是模型</a:t>
            </a:r>
            <a:r>
              <a:rPr lang="en-US" sz="1400" dirty="0" err="1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，是判定基準：不同班別對同一張影像的判斷不一致，模型只是把矛盾放大</a:t>
            </a:r>
            <a:r>
              <a:rPr lang="en-US" sz="1400" dirty="0" smtClean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 err="1" smtClean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我把判定規範</a:t>
            </a:r>
            <a:r>
              <a:rPr lang="en-US" sz="1400" dirty="0" err="1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、自動複核條件和人工複核的介入點寫清楚，讓輸出可對照、介入有紀錄。上線後每年為產線節省</a:t>
            </a:r>
            <a:r>
              <a:rPr lang="en-US" sz="14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295 </a:t>
            </a:r>
            <a:r>
              <a:rPr lang="en-US" sz="14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萬元。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57200" y="5154456"/>
            <a:ext cx="292608" cy="292608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16" name="Image 2" descr="/home/claude/work/icons/mountai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648" y="5215904"/>
            <a:ext cx="169713" cy="16971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" y="5136168"/>
            <a:ext cx="1089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現在：</a:t>
            </a:r>
            <a:r>
              <a:rPr lang="en-US" sz="1400" b="1" dirty="0">
                <a:solidFill>
                  <a:srgbClr val="0F76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MES IT × </a:t>
            </a: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持續進修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57200" y="5501928"/>
            <a:ext cx="11274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轉任</a:t>
            </a:r>
            <a:r>
              <a:rPr lang="en-US" sz="14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MES IT </a:t>
            </a:r>
            <a:r>
              <a:rPr lang="en-US" sz="14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後用</a:t>
            </a:r>
            <a:r>
              <a:rPr lang="en-US" sz="14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C# / .NET Core </a:t>
            </a:r>
            <a:r>
              <a:rPr lang="en-US" sz="1400" dirty="0" err="1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開發生產管控系統，從需求訪談、規格制定、測試到上線教育訓練完整走過</a:t>
            </a:r>
            <a:r>
              <a:rPr lang="en-US" sz="1400" dirty="0" smtClean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 err="1" smtClean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課外也動手寫過</a:t>
            </a:r>
            <a:r>
              <a:rPr lang="en-US" sz="1400" dirty="0" smtClean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4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LangGraph </a:t>
            </a:r>
            <a:r>
              <a:rPr lang="en-US" sz="14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</a:t>
            </a:r>
            <a:r>
              <a:rPr lang="en-US" sz="1400" dirty="0">
                <a:solidFill>
                  <a:srgbClr val="211C1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RAG </a:t>
            </a:r>
            <a:r>
              <a:rPr lang="en-US" sz="1400" dirty="0" err="1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的小型專案，確認自己對這些工具的理解是建立在實作上</a:t>
            </a:r>
            <a:r>
              <a:rPr lang="en-US" sz="1400" dirty="0" smtClean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sz="1400" dirty="0" err="1" smtClean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目前在陽明交大資科專班進修</a:t>
            </a:r>
            <a:r>
              <a:rPr lang="en-US" sz="1400" dirty="0" err="1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，希望把九年的半導體場景經驗，轉換成穩定的系統開發能力</a:t>
            </a:r>
            <a:r>
              <a:rPr lang="en-US" sz="1400" dirty="0">
                <a:solidFill>
                  <a:srgbClr val="211C1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437</Words>
  <Application>Microsoft Office PowerPoint</Application>
  <PresentationFormat>寬螢幕</PresentationFormat>
  <Paragraphs>90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Microsoft JhengHei</vt:lpstr>
      <vt:lpstr>Arial</vt:lpstr>
      <vt:lpstr>Calibri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陳昱齊 Resume</dc:title>
  <dc:subject>PptxGenJS Presentation</dc:subject>
  <dc:creator>Yu-Chi Chen</dc:creator>
  <cp:lastModifiedBy>CHUPEI</cp:lastModifiedBy>
  <cp:revision>3</cp:revision>
  <dcterms:created xsi:type="dcterms:W3CDTF">2026-09-08T01:11:02Z</dcterms:created>
  <dcterms:modified xsi:type="dcterms:W3CDTF">2026-09-08T08:09:17Z</dcterms:modified>
</cp:coreProperties>
</file>